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314" r:id="rId3"/>
    <p:sldId id="406" r:id="rId4"/>
    <p:sldId id="405" r:id="rId5"/>
    <p:sldId id="375" r:id="rId6"/>
    <p:sldId id="407" r:id="rId7"/>
    <p:sldId id="408" r:id="rId8"/>
    <p:sldId id="409" r:id="rId9"/>
    <p:sldId id="410" r:id="rId10"/>
    <p:sldId id="376" r:id="rId11"/>
    <p:sldId id="412" r:id="rId12"/>
    <p:sldId id="411" r:id="rId13"/>
    <p:sldId id="414" r:id="rId14"/>
    <p:sldId id="413" r:id="rId15"/>
    <p:sldId id="415" r:id="rId16"/>
    <p:sldId id="416" r:id="rId17"/>
    <p:sldId id="417"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98"/>
    <p:restoredTop sz="94552"/>
  </p:normalViewPr>
  <p:slideViewPr>
    <p:cSldViewPr snapToGrid="0" snapToObjects="1">
      <p:cViewPr varScale="1">
        <p:scale>
          <a:sx n="137" d="100"/>
          <a:sy n="137" d="100"/>
        </p:scale>
        <p:origin x="1104" y="1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5B3090-818E-374E-8128-98EBD59247F5}" type="datetimeFigureOut">
              <a:rPr kumimoji="1" lang="zh-CN" altLang="en-US" smtClean="0"/>
              <a:t>2022/5/24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8DA4FA-D663-874B-B906-A8066347C0A4}" type="slidenum">
              <a:rPr kumimoji="1" lang="zh-CN" altLang="en-US" smtClean="0"/>
              <a:t>‹#›</a:t>
            </a:fld>
            <a:endParaRPr kumimoji="1" lang="zh-CN" altLang="en-US"/>
          </a:p>
        </p:txBody>
      </p:sp>
    </p:spTree>
    <p:extLst>
      <p:ext uri="{BB962C8B-B14F-4D97-AF65-F5344CB8AC3E}">
        <p14:creationId xmlns:p14="http://schemas.microsoft.com/office/powerpoint/2010/main" val="2118206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a:t>
            </a:fld>
            <a:endParaRPr kumimoji="1" lang="zh-CN" altLang="en-US"/>
          </a:p>
        </p:txBody>
      </p:sp>
    </p:spTree>
    <p:extLst>
      <p:ext uri="{BB962C8B-B14F-4D97-AF65-F5344CB8AC3E}">
        <p14:creationId xmlns:p14="http://schemas.microsoft.com/office/powerpoint/2010/main" val="2931900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a:t>
            </a:fld>
            <a:endParaRPr kumimoji="1" lang="zh-CN" altLang="en-US"/>
          </a:p>
        </p:txBody>
      </p:sp>
    </p:spTree>
    <p:extLst>
      <p:ext uri="{BB962C8B-B14F-4D97-AF65-F5344CB8AC3E}">
        <p14:creationId xmlns:p14="http://schemas.microsoft.com/office/powerpoint/2010/main" val="2294398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4</a:t>
            </a:fld>
            <a:endParaRPr kumimoji="1" lang="zh-CN" altLang="en-US"/>
          </a:p>
        </p:txBody>
      </p:sp>
    </p:spTree>
    <p:extLst>
      <p:ext uri="{BB962C8B-B14F-4D97-AF65-F5344CB8AC3E}">
        <p14:creationId xmlns:p14="http://schemas.microsoft.com/office/powerpoint/2010/main" val="2003732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5</a:t>
            </a:fld>
            <a:endParaRPr kumimoji="1" lang="zh-CN" altLang="en-US"/>
          </a:p>
        </p:txBody>
      </p:sp>
    </p:spTree>
    <p:extLst>
      <p:ext uri="{BB962C8B-B14F-4D97-AF65-F5344CB8AC3E}">
        <p14:creationId xmlns:p14="http://schemas.microsoft.com/office/powerpoint/2010/main" val="2574352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6</a:t>
            </a:fld>
            <a:endParaRPr kumimoji="1" lang="zh-CN" altLang="en-US"/>
          </a:p>
        </p:txBody>
      </p:sp>
    </p:spTree>
    <p:extLst>
      <p:ext uri="{BB962C8B-B14F-4D97-AF65-F5344CB8AC3E}">
        <p14:creationId xmlns:p14="http://schemas.microsoft.com/office/powerpoint/2010/main" val="2558524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7</a:t>
            </a:fld>
            <a:endParaRPr kumimoji="1" lang="zh-CN" altLang="en-US"/>
          </a:p>
        </p:txBody>
      </p:sp>
    </p:spTree>
    <p:extLst>
      <p:ext uri="{BB962C8B-B14F-4D97-AF65-F5344CB8AC3E}">
        <p14:creationId xmlns:p14="http://schemas.microsoft.com/office/powerpoint/2010/main" val="793857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8</a:t>
            </a:fld>
            <a:endParaRPr kumimoji="1" lang="zh-CN" altLang="en-US"/>
          </a:p>
        </p:txBody>
      </p:sp>
    </p:spTree>
    <p:extLst>
      <p:ext uri="{BB962C8B-B14F-4D97-AF65-F5344CB8AC3E}">
        <p14:creationId xmlns:p14="http://schemas.microsoft.com/office/powerpoint/2010/main" val="1706469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9</a:t>
            </a:fld>
            <a:endParaRPr kumimoji="1" lang="zh-CN" altLang="en-US"/>
          </a:p>
        </p:txBody>
      </p:sp>
    </p:spTree>
    <p:extLst>
      <p:ext uri="{BB962C8B-B14F-4D97-AF65-F5344CB8AC3E}">
        <p14:creationId xmlns:p14="http://schemas.microsoft.com/office/powerpoint/2010/main" val="2372740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10</a:t>
            </a:fld>
            <a:endParaRPr kumimoji="1" lang="zh-CN" altLang="en-US"/>
          </a:p>
        </p:txBody>
      </p:sp>
    </p:spTree>
    <p:extLst>
      <p:ext uri="{BB962C8B-B14F-4D97-AF65-F5344CB8AC3E}">
        <p14:creationId xmlns:p14="http://schemas.microsoft.com/office/powerpoint/2010/main" val="4217013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11</a:t>
            </a:fld>
            <a:endParaRPr kumimoji="1" lang="zh-CN" altLang="en-US"/>
          </a:p>
        </p:txBody>
      </p:sp>
    </p:spTree>
    <p:extLst>
      <p:ext uri="{BB962C8B-B14F-4D97-AF65-F5344CB8AC3E}">
        <p14:creationId xmlns:p14="http://schemas.microsoft.com/office/powerpoint/2010/main" val="4040273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12</a:t>
            </a:fld>
            <a:endParaRPr kumimoji="1" lang="zh-CN" altLang="en-US"/>
          </a:p>
        </p:txBody>
      </p:sp>
    </p:spTree>
    <p:extLst>
      <p:ext uri="{BB962C8B-B14F-4D97-AF65-F5344CB8AC3E}">
        <p14:creationId xmlns:p14="http://schemas.microsoft.com/office/powerpoint/2010/main" val="2658035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13</a:t>
            </a:fld>
            <a:endParaRPr kumimoji="1" lang="zh-CN" altLang="en-US"/>
          </a:p>
        </p:txBody>
      </p:sp>
    </p:spTree>
    <p:extLst>
      <p:ext uri="{BB962C8B-B14F-4D97-AF65-F5344CB8AC3E}">
        <p14:creationId xmlns:p14="http://schemas.microsoft.com/office/powerpoint/2010/main" val="1536075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14</a:t>
            </a:fld>
            <a:endParaRPr kumimoji="1" lang="zh-CN" altLang="en-US"/>
          </a:p>
        </p:txBody>
      </p:sp>
    </p:spTree>
    <p:extLst>
      <p:ext uri="{BB962C8B-B14F-4D97-AF65-F5344CB8AC3E}">
        <p14:creationId xmlns:p14="http://schemas.microsoft.com/office/powerpoint/2010/main" val="142928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15</a:t>
            </a:fld>
            <a:endParaRPr kumimoji="1" lang="zh-CN" altLang="en-US"/>
          </a:p>
        </p:txBody>
      </p:sp>
    </p:spTree>
    <p:extLst>
      <p:ext uri="{BB962C8B-B14F-4D97-AF65-F5344CB8AC3E}">
        <p14:creationId xmlns:p14="http://schemas.microsoft.com/office/powerpoint/2010/main" val="3220553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16</a:t>
            </a:fld>
            <a:endParaRPr kumimoji="1" lang="zh-CN" altLang="en-US"/>
          </a:p>
        </p:txBody>
      </p:sp>
    </p:spTree>
    <p:extLst>
      <p:ext uri="{BB962C8B-B14F-4D97-AF65-F5344CB8AC3E}">
        <p14:creationId xmlns:p14="http://schemas.microsoft.com/office/powerpoint/2010/main" val="1468092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17</a:t>
            </a:fld>
            <a:endParaRPr kumimoji="1" lang="zh-CN" altLang="en-US"/>
          </a:p>
        </p:txBody>
      </p:sp>
    </p:spTree>
    <p:extLst>
      <p:ext uri="{BB962C8B-B14F-4D97-AF65-F5344CB8AC3E}">
        <p14:creationId xmlns:p14="http://schemas.microsoft.com/office/powerpoint/2010/main" val="2536013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BD4C4E-B1CA-C547-BCF1-A4C85F2A20C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8DC064E-0AC5-5240-A83E-29DDC4AD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7DB9A00C-78A3-CC41-B4C8-83CE6A990D1B}"/>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5" name="页脚占位符 4">
            <a:extLst>
              <a:ext uri="{FF2B5EF4-FFF2-40B4-BE49-F238E27FC236}">
                <a16:creationId xmlns:a16="http://schemas.microsoft.com/office/drawing/2014/main" id="{7833F5B6-7918-6F41-BEB4-7358C6F8880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DC0046F-0E7C-CE41-9C8F-FD763F6AD594}"/>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242438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A04C63-0CCA-AB44-A6D4-2C31ED3DFC91}"/>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90A762B-7D65-9A4D-B858-0BD435A3AF96}"/>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AB788BC-847C-A642-8CB7-6A18FD7EA560}"/>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5" name="页脚占位符 4">
            <a:extLst>
              <a:ext uri="{FF2B5EF4-FFF2-40B4-BE49-F238E27FC236}">
                <a16:creationId xmlns:a16="http://schemas.microsoft.com/office/drawing/2014/main" id="{34198D49-3713-0B40-8A80-8F37C107E2C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8E7D06F-0A5C-C449-814F-AB6C30466DF9}"/>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733219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D430B8-8A34-1248-AAC6-B3E0437DF66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AC4AEB35-3B32-CE45-94A8-5917398BA8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301B0AB-1952-2140-950C-4BCB490BD17C}"/>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5" name="页脚占位符 4">
            <a:extLst>
              <a:ext uri="{FF2B5EF4-FFF2-40B4-BE49-F238E27FC236}">
                <a16:creationId xmlns:a16="http://schemas.microsoft.com/office/drawing/2014/main" id="{DC244F7C-32A8-444E-9FCB-3F739915F1F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4EBFA62-4E5B-0B4C-848B-7503F399ECA6}"/>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783373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4392D-A227-8A44-8672-3F6144F1917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132C1E4-4E3B-124A-8572-43993873D0BC}"/>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3A5F6823-85DC-A74E-8ED9-4E997AE7020A}"/>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CE07E4B2-C29D-B349-951D-B38AA1E824D8}"/>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6" name="页脚占位符 5">
            <a:extLst>
              <a:ext uri="{FF2B5EF4-FFF2-40B4-BE49-F238E27FC236}">
                <a16:creationId xmlns:a16="http://schemas.microsoft.com/office/drawing/2014/main" id="{E7AE855E-9DDC-9447-A7AC-9057B515DB8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B65EEAD-7A15-E64F-9715-579E1292506D}"/>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27264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69BACD-B8CA-B44F-A260-A123911C075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3446AC0-468D-084A-8959-F17DE5D116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49545C1-0F43-2143-B7CA-B43ABBD97AF4}"/>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DAE6A95-98F9-084E-B93B-69F469CAAA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F53B583-E5AE-8D4E-8CD5-19C22DF9001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1F763DF-3B58-C84E-9549-0B331D891A9D}"/>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8" name="页脚占位符 7">
            <a:extLst>
              <a:ext uri="{FF2B5EF4-FFF2-40B4-BE49-F238E27FC236}">
                <a16:creationId xmlns:a16="http://schemas.microsoft.com/office/drawing/2014/main" id="{691DF1AD-EEB9-7C41-8DF8-ABCC52057703}"/>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87BF9A17-93E6-5C40-A0AB-FD9F83AFA595}"/>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182971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FCE4D-95A3-E24E-88F0-6AA312A42F5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EFA2393-9058-D44E-98F2-27E2A31A7699}"/>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4" name="页脚占位符 3">
            <a:extLst>
              <a:ext uri="{FF2B5EF4-FFF2-40B4-BE49-F238E27FC236}">
                <a16:creationId xmlns:a16="http://schemas.microsoft.com/office/drawing/2014/main" id="{AAA6D27C-8338-924D-A799-0914F8250ACF}"/>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F6ECE7C7-8CA8-BD4B-B502-C27A45AF044A}"/>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1798908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6C182C2-71C3-A24B-B4BD-6DC07CEF99ED}"/>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3" name="页脚占位符 2">
            <a:extLst>
              <a:ext uri="{FF2B5EF4-FFF2-40B4-BE49-F238E27FC236}">
                <a16:creationId xmlns:a16="http://schemas.microsoft.com/office/drawing/2014/main" id="{6D12A72D-55EC-664A-8575-00C1675C3FA0}"/>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EFEC68CA-A19F-EB43-A39C-58ED14C68DCC}"/>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449498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31C2A-5D31-0B40-8274-90E547CBD12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476095EA-D173-3B45-B249-B956A5C2D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D817681-79DD-2B49-AACA-11877A61B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FFC9CCC-C5D8-7346-99EF-16CA8A77907C}"/>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6" name="页脚占位符 5">
            <a:extLst>
              <a:ext uri="{FF2B5EF4-FFF2-40B4-BE49-F238E27FC236}">
                <a16:creationId xmlns:a16="http://schemas.microsoft.com/office/drawing/2014/main" id="{B78D4E72-F5E0-444F-A188-3CD7B752A23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536EB40-6795-2B43-9844-FBFDFBE8E886}"/>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7170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C40590-458E-0C4C-A5F5-35C7DDA37FF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EFF1430-0A98-0A4B-92A2-B79B37F369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E03AD9A6-F1BE-EF40-AD58-278E9E4F5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94F552A-6C01-5D42-ADEB-4723CED57D79}"/>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6" name="页脚占位符 5">
            <a:extLst>
              <a:ext uri="{FF2B5EF4-FFF2-40B4-BE49-F238E27FC236}">
                <a16:creationId xmlns:a16="http://schemas.microsoft.com/office/drawing/2014/main" id="{49FBDAB9-FB22-294A-9E2A-898E6269960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C80BC38-17E7-A54D-83F6-DD702634AA24}"/>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174139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3C719C-A5CF-7640-A2CC-374169365E4F}"/>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CBA8AAB-11B3-5A49-AB3B-D4C61A518989}"/>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168D51D-7503-1746-BBFC-BE58B4138AE9}"/>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5" name="页脚占位符 4">
            <a:extLst>
              <a:ext uri="{FF2B5EF4-FFF2-40B4-BE49-F238E27FC236}">
                <a16:creationId xmlns:a16="http://schemas.microsoft.com/office/drawing/2014/main" id="{053C0E5E-EBAE-4C4F-B205-80BD89E21EB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8374BF4-7ECD-294E-95AB-0EAD827337DD}"/>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123017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612963B-2C0A-F140-B9E2-5DB7D93F564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3A20E7A-6509-1B4A-953D-C3A4DEE0F8D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276ED73-C8A7-3C4E-9726-4C61C398D443}"/>
              </a:ext>
            </a:extLst>
          </p:cNvPr>
          <p:cNvSpPr>
            <a:spLocks noGrp="1"/>
          </p:cNvSpPr>
          <p:nvPr>
            <p:ph type="dt" sz="half" idx="10"/>
          </p:nvPr>
        </p:nvSpPr>
        <p:spPr/>
        <p:txBody>
          <a:bodyPr/>
          <a:lstStyle/>
          <a:p>
            <a:fld id="{78A26B84-87D9-CD40-AC10-40C642A1F7BC}" type="datetimeFigureOut">
              <a:rPr kumimoji="1" lang="zh-CN" altLang="en-US" smtClean="0"/>
              <a:t>2022/5/24</a:t>
            </a:fld>
            <a:endParaRPr kumimoji="1" lang="zh-CN" altLang="en-US"/>
          </a:p>
        </p:txBody>
      </p:sp>
      <p:sp>
        <p:nvSpPr>
          <p:cNvPr id="5" name="页脚占位符 4">
            <a:extLst>
              <a:ext uri="{FF2B5EF4-FFF2-40B4-BE49-F238E27FC236}">
                <a16:creationId xmlns:a16="http://schemas.microsoft.com/office/drawing/2014/main" id="{FD72EF4B-FCE4-5C4D-AE5C-57D4E91A377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D15662C-93E5-FD49-9FC9-7859D8A45D0B}"/>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755794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23500FC-2C0A-5240-8815-3CAFC315D8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64F394BA-05F7-5849-9714-C6D4AC570E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5CE42A5-2597-1F40-B699-FE7BB23326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A26B84-87D9-CD40-AC10-40C642A1F7BC}" type="datetimeFigureOut">
              <a:rPr kumimoji="1" lang="zh-CN" altLang="en-US" smtClean="0"/>
              <a:t>2022/5/24</a:t>
            </a:fld>
            <a:endParaRPr kumimoji="1" lang="zh-CN" altLang="en-US"/>
          </a:p>
        </p:txBody>
      </p:sp>
      <p:sp>
        <p:nvSpPr>
          <p:cNvPr id="5" name="页脚占位符 4">
            <a:extLst>
              <a:ext uri="{FF2B5EF4-FFF2-40B4-BE49-F238E27FC236}">
                <a16:creationId xmlns:a16="http://schemas.microsoft.com/office/drawing/2014/main" id="{FA0F16E7-2EF5-D345-A056-7E3B5F175E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82DDFBE-46B9-C445-8181-7CA21B657B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2536402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606377-C382-FC4B-B93F-55D7FEF4BB28}"/>
              </a:ext>
            </a:extLst>
          </p:cNvPr>
          <p:cNvSpPr>
            <a:spLocks noGrp="1"/>
          </p:cNvSpPr>
          <p:nvPr>
            <p:ph type="ctrTitle"/>
          </p:nvPr>
        </p:nvSpPr>
        <p:spPr/>
        <p:txBody>
          <a:bodyPr/>
          <a:lstStyle/>
          <a:p>
            <a:r>
              <a:rPr kumimoji="1" lang="en-US" altLang="zh-CN" b="1" dirty="0">
                <a:latin typeface="Times New Roman" panose="02020603050405020304" pitchFamily="18" charset="0"/>
                <a:ea typeface="KaiTi" panose="02010609060101010101" pitchFamily="49" charset="-122"/>
                <a:cs typeface="Times New Roman" panose="02020603050405020304" pitchFamily="18" charset="0"/>
              </a:rPr>
              <a:t>C++</a:t>
            </a:r>
            <a:r>
              <a:rPr kumimoji="1" lang="zh-CN" altLang="en-US" b="1" dirty="0">
                <a:latin typeface="Times New Roman" panose="02020603050405020304" pitchFamily="18" charset="0"/>
                <a:ea typeface="KaiTi" panose="02010609060101010101" pitchFamily="49" charset="-122"/>
                <a:cs typeface="Times New Roman" panose="02020603050405020304" pitchFamily="18" charset="0"/>
              </a:rPr>
              <a:t>习题课</a:t>
            </a:r>
            <a:r>
              <a:rPr kumimoji="1" lang="en-US" altLang="zh-CN" b="1" dirty="0">
                <a:latin typeface="Times New Roman" panose="02020603050405020304" pitchFamily="18" charset="0"/>
                <a:ea typeface="KaiTi" panose="02010609060101010101" pitchFamily="49" charset="-122"/>
                <a:cs typeface="Times New Roman" panose="02020603050405020304" pitchFamily="18" charset="0"/>
              </a:rPr>
              <a:t>(11-13)</a:t>
            </a:r>
            <a:endParaRPr kumimoji="1" lang="zh-CN" altLang="en-US" b="1" dirty="0">
              <a:latin typeface="Times New Roman" panose="02020603050405020304" pitchFamily="18" charset="0"/>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63199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11</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B1</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6035211" cy="4752809"/>
          </a:xfrm>
        </p:spPr>
        <p:txBody>
          <a:bodyPr>
            <a:normAutofit/>
          </a:bodyPr>
          <a:lstStyle/>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已知有一个整型数组</a:t>
            </a:r>
            <a:r>
              <a:rPr kumimoji="1" lang="en-US" altLang="zh-CN" sz="1800" dirty="0">
                <a:latin typeface="Times New Roman" panose="02020603050405020304" pitchFamily="18" charset="0"/>
                <a:ea typeface="KaiTi" panose="02010609060101010101" pitchFamily="49" charset="-122"/>
                <a:cs typeface="Times New Roman" panose="02020603050405020304" pitchFamily="18" charset="0"/>
              </a:rPr>
              <a:t>a</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，其内容为</a:t>
            </a:r>
            <a:r>
              <a:rPr kumimoji="1" lang="en-US" altLang="zh-CN" sz="1800" dirty="0">
                <a:latin typeface="Times New Roman" panose="02020603050405020304" pitchFamily="18" charset="0"/>
                <a:ea typeface="KaiTi" panose="02010609060101010101" pitchFamily="49" charset="-122"/>
                <a:cs typeface="Times New Roman" panose="02020603050405020304" pitchFamily="18" charset="0"/>
              </a:rPr>
              <a:t>1 3 5 7 9 2 4 6 8 10. </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先对数组进行升序排列，再使用它产生向量（</a:t>
            </a:r>
            <a:r>
              <a:rPr kumimoji="1" lang="en-US" altLang="zh-CN" sz="1800" dirty="0">
                <a:latin typeface="Times New Roman" panose="02020603050405020304" pitchFamily="18" charset="0"/>
                <a:ea typeface="KaiTi" panose="02010609060101010101" pitchFamily="49" charset="-122"/>
                <a:cs typeface="Times New Roman" panose="02020603050405020304" pitchFamily="18" charset="0"/>
              </a:rPr>
              <a:t>vector</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 </a:t>
            </a:r>
            <a:r>
              <a:rPr kumimoji="1" lang="en-US" altLang="zh-CN" sz="1800" dirty="0">
                <a:latin typeface="Times New Roman" panose="02020603050405020304" pitchFamily="18" charset="0"/>
                <a:ea typeface="KaiTi" panose="02010609060101010101" pitchFamily="49" charset="-122"/>
                <a:cs typeface="Times New Roman" panose="02020603050405020304" pitchFamily="18" charset="0"/>
              </a:rPr>
              <a:t>b</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，然后再在向量的尾部追加</a:t>
            </a:r>
            <a:r>
              <a:rPr kumimoji="1" lang="en-US" altLang="zh-CN" sz="1800" dirty="0">
                <a:latin typeface="Times New Roman" panose="02020603050405020304" pitchFamily="18" charset="0"/>
                <a:ea typeface="KaiTi" panose="02010609060101010101" pitchFamily="49" charset="-122"/>
                <a:cs typeface="Times New Roman" panose="02020603050405020304" pitchFamily="18" charset="0"/>
              </a:rPr>
              <a:t>11</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，并按降序排列输出向量的内容和</a:t>
            </a:r>
            <a:r>
              <a:rPr kumimoji="1" lang="en-US" altLang="zh-CN" sz="1800" dirty="0">
                <a:latin typeface="Times New Roman" panose="02020603050405020304" pitchFamily="18" charset="0"/>
                <a:ea typeface="KaiTi" panose="02010609060101010101" pitchFamily="49" charset="-122"/>
                <a:cs typeface="Times New Roman" panose="02020603050405020304" pitchFamily="18" charset="0"/>
              </a:rPr>
              <a:t>capacity()</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的内容</a:t>
            </a:r>
          </a:p>
        </p:txBody>
      </p:sp>
      <p:pic>
        <p:nvPicPr>
          <p:cNvPr id="3" name="图片 2">
            <a:extLst>
              <a:ext uri="{FF2B5EF4-FFF2-40B4-BE49-F238E27FC236}">
                <a16:creationId xmlns:a16="http://schemas.microsoft.com/office/drawing/2014/main" id="{E9726329-B187-A54D-371F-22CC27E5F3A1}"/>
              </a:ext>
            </a:extLst>
          </p:cNvPr>
          <p:cNvPicPr>
            <a:picLocks noChangeAspect="1"/>
          </p:cNvPicPr>
          <p:nvPr/>
        </p:nvPicPr>
        <p:blipFill>
          <a:blip r:embed="rId3"/>
          <a:stretch>
            <a:fillRect/>
          </a:stretch>
        </p:blipFill>
        <p:spPr>
          <a:xfrm>
            <a:off x="7022814" y="868705"/>
            <a:ext cx="4181582" cy="5382675"/>
          </a:xfrm>
          <a:prstGeom prst="rect">
            <a:avLst/>
          </a:prstGeom>
        </p:spPr>
      </p:pic>
    </p:spTree>
    <p:extLst>
      <p:ext uri="{BB962C8B-B14F-4D97-AF65-F5344CB8AC3E}">
        <p14:creationId xmlns:p14="http://schemas.microsoft.com/office/powerpoint/2010/main" val="1040632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11</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B2</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689404" cy="4752809"/>
          </a:xfrm>
        </p:spPr>
        <p:txBody>
          <a:bodyPr>
            <a:normAutofit/>
          </a:bodyPr>
          <a:lstStyle/>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给定一个字符串 </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str, </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使用</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map</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来统计出现的每个字符的出现的次数。</a:t>
            </a:r>
          </a:p>
        </p:txBody>
      </p:sp>
      <p:pic>
        <p:nvPicPr>
          <p:cNvPr id="4" name="图片 3">
            <a:extLst>
              <a:ext uri="{FF2B5EF4-FFF2-40B4-BE49-F238E27FC236}">
                <a16:creationId xmlns:a16="http://schemas.microsoft.com/office/drawing/2014/main" id="{52784FFB-C9C3-7ED9-4FC1-89D4638ACE70}"/>
              </a:ext>
            </a:extLst>
          </p:cNvPr>
          <p:cNvPicPr>
            <a:picLocks noChangeAspect="1"/>
          </p:cNvPicPr>
          <p:nvPr/>
        </p:nvPicPr>
        <p:blipFill>
          <a:blip r:embed="rId3"/>
          <a:stretch>
            <a:fillRect/>
          </a:stretch>
        </p:blipFill>
        <p:spPr>
          <a:xfrm>
            <a:off x="4307868" y="2282796"/>
            <a:ext cx="3750068" cy="3891580"/>
          </a:xfrm>
          <a:prstGeom prst="rect">
            <a:avLst/>
          </a:prstGeom>
        </p:spPr>
      </p:pic>
    </p:spTree>
    <p:extLst>
      <p:ext uri="{BB962C8B-B14F-4D97-AF65-F5344CB8AC3E}">
        <p14:creationId xmlns:p14="http://schemas.microsoft.com/office/powerpoint/2010/main" val="2190159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11</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B3</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4648200" cy="4752809"/>
          </a:xfrm>
        </p:spPr>
        <p:txBody>
          <a:bodyPr>
            <a:normAutofit/>
          </a:bodyPr>
          <a:lstStyle/>
          <a:p>
            <a:pPr marL="0" indent="0">
              <a:lnSpc>
                <a:spcPct val="150000"/>
              </a:lnSpc>
              <a:buNone/>
            </a:pP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C++</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小测成绩出来了，苏老师想知道哪些同学不及格以及全班的平均分，请用</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for_each</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函数实现。苏老师还想要根据大家的成绩进行排名。请用</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sort</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函数按成绩从大到小排序，最后按顺序输出姓名。</a:t>
            </a:r>
          </a:p>
        </p:txBody>
      </p:sp>
      <p:pic>
        <p:nvPicPr>
          <p:cNvPr id="4" name="图片 3">
            <a:extLst>
              <a:ext uri="{FF2B5EF4-FFF2-40B4-BE49-F238E27FC236}">
                <a16:creationId xmlns:a16="http://schemas.microsoft.com/office/drawing/2014/main" id="{D7032446-D343-6D52-574F-872B719EE592}"/>
              </a:ext>
            </a:extLst>
          </p:cNvPr>
          <p:cNvPicPr>
            <a:picLocks noChangeAspect="1"/>
          </p:cNvPicPr>
          <p:nvPr/>
        </p:nvPicPr>
        <p:blipFill>
          <a:blip r:embed="rId3"/>
          <a:stretch>
            <a:fillRect/>
          </a:stretch>
        </p:blipFill>
        <p:spPr>
          <a:xfrm>
            <a:off x="6289704" y="0"/>
            <a:ext cx="4928110" cy="3429000"/>
          </a:xfrm>
          <a:prstGeom prst="rect">
            <a:avLst/>
          </a:prstGeom>
        </p:spPr>
      </p:pic>
      <p:pic>
        <p:nvPicPr>
          <p:cNvPr id="6" name="图片 5">
            <a:extLst>
              <a:ext uri="{FF2B5EF4-FFF2-40B4-BE49-F238E27FC236}">
                <a16:creationId xmlns:a16="http://schemas.microsoft.com/office/drawing/2014/main" id="{1B62092F-7290-9CD8-FC6A-1082639531D4}"/>
              </a:ext>
            </a:extLst>
          </p:cNvPr>
          <p:cNvPicPr>
            <a:picLocks noChangeAspect="1"/>
          </p:cNvPicPr>
          <p:nvPr/>
        </p:nvPicPr>
        <p:blipFill>
          <a:blip r:embed="rId4"/>
          <a:stretch>
            <a:fillRect/>
          </a:stretch>
        </p:blipFill>
        <p:spPr>
          <a:xfrm>
            <a:off x="5486400" y="3457398"/>
            <a:ext cx="6472719" cy="3264916"/>
          </a:xfrm>
          <a:prstGeom prst="rect">
            <a:avLst/>
          </a:prstGeom>
        </p:spPr>
      </p:pic>
    </p:spTree>
    <p:extLst>
      <p:ext uri="{BB962C8B-B14F-4D97-AF65-F5344CB8AC3E}">
        <p14:creationId xmlns:p14="http://schemas.microsoft.com/office/powerpoint/2010/main" val="1356040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182456" cy="4752809"/>
          </a:xfrm>
        </p:spPr>
        <p:txBody>
          <a:bodyPr>
            <a:normAutofit/>
          </a:bodyPr>
          <a:lstStyle/>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编写一个拷贝程序，它能把一个文件中的内容复制到另一个文件中去。</a:t>
            </a:r>
          </a:p>
        </p:txBody>
      </p:sp>
      <p:pic>
        <p:nvPicPr>
          <p:cNvPr id="3" name="图片 2">
            <a:extLst>
              <a:ext uri="{FF2B5EF4-FFF2-40B4-BE49-F238E27FC236}">
                <a16:creationId xmlns:a16="http://schemas.microsoft.com/office/drawing/2014/main" id="{47EFBB12-B242-4C41-DFD8-AC4B86E05B34}"/>
              </a:ext>
            </a:extLst>
          </p:cNvPr>
          <p:cNvPicPr>
            <a:picLocks noChangeAspect="1"/>
          </p:cNvPicPr>
          <p:nvPr/>
        </p:nvPicPr>
        <p:blipFill>
          <a:blip r:embed="rId3"/>
          <a:stretch>
            <a:fillRect/>
          </a:stretch>
        </p:blipFill>
        <p:spPr>
          <a:xfrm>
            <a:off x="6647360" y="472611"/>
            <a:ext cx="3755827" cy="5666198"/>
          </a:xfrm>
          <a:prstGeom prst="rect">
            <a:avLst/>
          </a:prstGeom>
        </p:spPr>
      </p:pic>
    </p:spTree>
    <p:extLst>
      <p:ext uri="{BB962C8B-B14F-4D97-AF65-F5344CB8AC3E}">
        <p14:creationId xmlns:p14="http://schemas.microsoft.com/office/powerpoint/2010/main" val="1692479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a:xfrm>
            <a:off x="838200" y="365125"/>
            <a:ext cx="10515600" cy="1325563"/>
          </a:xfrm>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4752809"/>
          </a:xfrm>
        </p:spPr>
        <p:txBody>
          <a:bodyPr>
            <a:normAutofit/>
          </a:bodyPr>
          <a:lstStyle/>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编写一个程序，统计一个文本文件的行数</a:t>
            </a:r>
          </a:p>
        </p:txBody>
      </p:sp>
      <p:pic>
        <p:nvPicPr>
          <p:cNvPr id="3" name="图片 2">
            <a:extLst>
              <a:ext uri="{FF2B5EF4-FFF2-40B4-BE49-F238E27FC236}">
                <a16:creationId xmlns:a16="http://schemas.microsoft.com/office/drawing/2014/main" id="{C2B44511-F25D-19F0-FDC7-771CBA00BBAB}"/>
              </a:ext>
            </a:extLst>
          </p:cNvPr>
          <p:cNvPicPr>
            <a:picLocks noChangeAspect="1"/>
          </p:cNvPicPr>
          <p:nvPr/>
        </p:nvPicPr>
        <p:blipFill>
          <a:blip r:embed="rId3"/>
          <a:stretch>
            <a:fillRect/>
          </a:stretch>
        </p:blipFill>
        <p:spPr>
          <a:xfrm>
            <a:off x="6534364" y="486984"/>
            <a:ext cx="3982965" cy="6005891"/>
          </a:xfrm>
          <a:prstGeom prst="rect">
            <a:avLst/>
          </a:prstGeom>
        </p:spPr>
      </p:pic>
    </p:spTree>
    <p:extLst>
      <p:ext uri="{BB962C8B-B14F-4D97-AF65-F5344CB8AC3E}">
        <p14:creationId xmlns:p14="http://schemas.microsoft.com/office/powerpoint/2010/main" val="2970710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A3</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4752809"/>
          </a:xfrm>
        </p:spPr>
        <p:txBody>
          <a:bodyPr>
            <a:normAutofit/>
          </a:bodyPr>
          <a:lstStyle/>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编写一个通讯录输入</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输出程序。该程序从键盘输入通讯录，然后把它保存到文件中。通讯录的内容包括：序号、姓名、单位以及电话。要求在程序中把通讯录设计为一个类，通过重载操作符“</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&lt;&lt;”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和“</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&gt;&gt;”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来实现通讯录的输入</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输出。</a:t>
            </a:r>
          </a:p>
        </p:txBody>
      </p:sp>
      <p:pic>
        <p:nvPicPr>
          <p:cNvPr id="3" name="图片 2">
            <a:extLst>
              <a:ext uri="{FF2B5EF4-FFF2-40B4-BE49-F238E27FC236}">
                <a16:creationId xmlns:a16="http://schemas.microsoft.com/office/drawing/2014/main" id="{F9FC3169-C297-97D2-D536-CAB41623D68F}"/>
              </a:ext>
            </a:extLst>
          </p:cNvPr>
          <p:cNvPicPr>
            <a:picLocks noChangeAspect="1"/>
          </p:cNvPicPr>
          <p:nvPr/>
        </p:nvPicPr>
        <p:blipFill>
          <a:blip r:embed="rId3"/>
          <a:stretch>
            <a:fillRect/>
          </a:stretch>
        </p:blipFill>
        <p:spPr>
          <a:xfrm>
            <a:off x="3729519" y="2492919"/>
            <a:ext cx="3955957" cy="4257131"/>
          </a:xfrm>
          <a:prstGeom prst="rect">
            <a:avLst/>
          </a:prstGeom>
        </p:spPr>
      </p:pic>
      <p:pic>
        <p:nvPicPr>
          <p:cNvPr id="4" name="图片 3">
            <a:extLst>
              <a:ext uri="{FF2B5EF4-FFF2-40B4-BE49-F238E27FC236}">
                <a16:creationId xmlns:a16="http://schemas.microsoft.com/office/drawing/2014/main" id="{25E5E0AC-3D92-CD1F-10C9-ED6DEF97B64A}"/>
              </a:ext>
            </a:extLst>
          </p:cNvPr>
          <p:cNvPicPr>
            <a:picLocks noChangeAspect="1"/>
          </p:cNvPicPr>
          <p:nvPr/>
        </p:nvPicPr>
        <p:blipFill>
          <a:blip r:embed="rId4"/>
          <a:stretch>
            <a:fillRect/>
          </a:stretch>
        </p:blipFill>
        <p:spPr>
          <a:xfrm>
            <a:off x="7777944" y="2505233"/>
            <a:ext cx="3164033" cy="4244817"/>
          </a:xfrm>
          <a:prstGeom prst="rect">
            <a:avLst/>
          </a:prstGeom>
        </p:spPr>
      </p:pic>
    </p:spTree>
    <p:extLst>
      <p:ext uri="{BB962C8B-B14F-4D97-AF65-F5344CB8AC3E}">
        <p14:creationId xmlns:p14="http://schemas.microsoft.com/office/powerpoint/2010/main" val="2347517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A4</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4752809"/>
          </a:xfrm>
        </p:spPr>
        <p:txBody>
          <a:bodyPr>
            <a:normAutofit/>
          </a:bodyPr>
          <a:lstStyle/>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用文本文件保存例 </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9-2 </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中的学生信息。</a:t>
            </a:r>
          </a:p>
        </p:txBody>
      </p:sp>
      <p:pic>
        <p:nvPicPr>
          <p:cNvPr id="4" name="图片 3">
            <a:extLst>
              <a:ext uri="{FF2B5EF4-FFF2-40B4-BE49-F238E27FC236}">
                <a16:creationId xmlns:a16="http://schemas.microsoft.com/office/drawing/2014/main" id="{FF42E242-5DB5-314E-FFE9-A9A0A3C5D48D}"/>
              </a:ext>
            </a:extLst>
          </p:cNvPr>
          <p:cNvPicPr>
            <a:picLocks noChangeAspect="1"/>
          </p:cNvPicPr>
          <p:nvPr/>
        </p:nvPicPr>
        <p:blipFill>
          <a:blip r:embed="rId3"/>
          <a:stretch>
            <a:fillRect/>
          </a:stretch>
        </p:blipFill>
        <p:spPr>
          <a:xfrm>
            <a:off x="4559093" y="2128835"/>
            <a:ext cx="5478478" cy="4300993"/>
          </a:xfrm>
          <a:prstGeom prst="rect">
            <a:avLst/>
          </a:prstGeom>
        </p:spPr>
      </p:pic>
      <p:pic>
        <p:nvPicPr>
          <p:cNvPr id="5" name="图片 4">
            <a:extLst>
              <a:ext uri="{FF2B5EF4-FFF2-40B4-BE49-F238E27FC236}">
                <a16:creationId xmlns:a16="http://schemas.microsoft.com/office/drawing/2014/main" id="{04084F92-C819-9C0B-1564-D1686AE7C94A}"/>
              </a:ext>
            </a:extLst>
          </p:cNvPr>
          <p:cNvPicPr>
            <a:picLocks noChangeAspect="1"/>
          </p:cNvPicPr>
          <p:nvPr/>
        </p:nvPicPr>
        <p:blipFill>
          <a:blip r:embed="rId4"/>
          <a:stretch>
            <a:fillRect/>
          </a:stretch>
        </p:blipFill>
        <p:spPr>
          <a:xfrm>
            <a:off x="8715232" y="3357081"/>
            <a:ext cx="3109974" cy="3397935"/>
          </a:xfrm>
          <a:prstGeom prst="rect">
            <a:avLst/>
          </a:prstGeom>
        </p:spPr>
      </p:pic>
      <p:pic>
        <p:nvPicPr>
          <p:cNvPr id="6" name="图片 5">
            <a:extLst>
              <a:ext uri="{FF2B5EF4-FFF2-40B4-BE49-F238E27FC236}">
                <a16:creationId xmlns:a16="http://schemas.microsoft.com/office/drawing/2014/main" id="{2E063755-0DA0-F483-BE48-734BE210ACE8}"/>
              </a:ext>
            </a:extLst>
          </p:cNvPr>
          <p:cNvPicPr>
            <a:picLocks noChangeAspect="1"/>
          </p:cNvPicPr>
          <p:nvPr/>
        </p:nvPicPr>
        <p:blipFill>
          <a:blip r:embed="rId5"/>
          <a:stretch>
            <a:fillRect/>
          </a:stretch>
        </p:blipFill>
        <p:spPr>
          <a:xfrm>
            <a:off x="948584" y="2124480"/>
            <a:ext cx="3500125" cy="4305348"/>
          </a:xfrm>
          <a:prstGeom prst="rect">
            <a:avLst/>
          </a:prstGeom>
        </p:spPr>
      </p:pic>
    </p:spTree>
    <p:extLst>
      <p:ext uri="{BB962C8B-B14F-4D97-AF65-F5344CB8AC3E}">
        <p14:creationId xmlns:p14="http://schemas.microsoft.com/office/powerpoint/2010/main" val="1004344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A5</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4000928" cy="4752809"/>
          </a:xfrm>
        </p:spPr>
        <p:txBody>
          <a:bodyPr>
            <a:normAutofit/>
          </a:bodyPr>
          <a:lstStyle/>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从键盘读入一批图形信息，然后把它们保存到文件中。</a:t>
            </a:r>
          </a:p>
        </p:txBody>
      </p:sp>
      <p:pic>
        <p:nvPicPr>
          <p:cNvPr id="3" name="图片 2">
            <a:extLst>
              <a:ext uri="{FF2B5EF4-FFF2-40B4-BE49-F238E27FC236}">
                <a16:creationId xmlns:a16="http://schemas.microsoft.com/office/drawing/2014/main" id="{88932EB8-5BFE-7464-F2C0-BFA27D96E0C2}"/>
              </a:ext>
            </a:extLst>
          </p:cNvPr>
          <p:cNvPicPr>
            <a:picLocks noChangeAspect="1"/>
          </p:cNvPicPr>
          <p:nvPr/>
        </p:nvPicPr>
        <p:blipFill>
          <a:blip r:embed="rId3"/>
          <a:stretch>
            <a:fillRect/>
          </a:stretch>
        </p:blipFill>
        <p:spPr>
          <a:xfrm>
            <a:off x="5244373" y="524228"/>
            <a:ext cx="5373334" cy="5881955"/>
          </a:xfrm>
          <a:prstGeom prst="rect">
            <a:avLst/>
          </a:prstGeom>
        </p:spPr>
      </p:pic>
    </p:spTree>
    <p:extLst>
      <p:ext uri="{BB962C8B-B14F-4D97-AF65-F5344CB8AC3E}">
        <p14:creationId xmlns:p14="http://schemas.microsoft.com/office/powerpoint/2010/main" val="2797570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4350249" cy="4752809"/>
          </a:xfrm>
        </p:spPr>
        <p:txBody>
          <a:bodyPr>
            <a:normAutofit/>
          </a:bodyPr>
          <a:lstStyle/>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从上一题保存的图形文件中读入图形信息并以某种方式把它们输出到显示器。</a:t>
            </a:r>
          </a:p>
        </p:txBody>
      </p:sp>
      <p:pic>
        <p:nvPicPr>
          <p:cNvPr id="3" name="图片 2">
            <a:extLst>
              <a:ext uri="{FF2B5EF4-FFF2-40B4-BE49-F238E27FC236}">
                <a16:creationId xmlns:a16="http://schemas.microsoft.com/office/drawing/2014/main" id="{DE6AD6F8-7E9A-D81E-93B4-78D818EE8724}"/>
              </a:ext>
            </a:extLst>
          </p:cNvPr>
          <p:cNvPicPr>
            <a:picLocks noChangeAspect="1"/>
          </p:cNvPicPr>
          <p:nvPr/>
        </p:nvPicPr>
        <p:blipFill>
          <a:blip r:embed="rId3"/>
          <a:stretch>
            <a:fillRect/>
          </a:stretch>
        </p:blipFill>
        <p:spPr>
          <a:xfrm>
            <a:off x="5188449" y="765033"/>
            <a:ext cx="5917906" cy="5727842"/>
          </a:xfrm>
          <a:prstGeom prst="rect">
            <a:avLst/>
          </a:prstGeom>
        </p:spPr>
      </p:pic>
    </p:spTree>
    <p:extLst>
      <p:ext uri="{BB962C8B-B14F-4D97-AF65-F5344CB8AC3E}">
        <p14:creationId xmlns:p14="http://schemas.microsoft.com/office/powerpoint/2010/main" val="2781668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B1</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689404" cy="4752809"/>
          </a:xfrm>
        </p:spPr>
        <p:txBody>
          <a:bodyPr>
            <a:normAutofit/>
          </a:bodyPr>
          <a:lstStyle/>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假如我们有个</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map</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对象是这么声明的： </a:t>
            </a:r>
          </a:p>
          <a:p>
            <a:pPr marL="0" indent="0">
              <a:lnSpc>
                <a:spcPct val="150000"/>
              </a:lnSpc>
              <a:buNone/>
            </a:pP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std::map&lt;int, std::string&gt;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my_map.insert</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make_pair</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(10,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china</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my_map.insert</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make_pair</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(20,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usa</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my_map.insert</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make_pair</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(30,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english</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my_map.insert</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make_pair</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(40,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hongkong</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插入值后我们想得到值为”</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english</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的这条记录，要怎样写程序呢？请用</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find_if</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函数实现。</a:t>
            </a:r>
          </a:p>
        </p:txBody>
      </p:sp>
    </p:spTree>
    <p:extLst>
      <p:ext uri="{BB962C8B-B14F-4D97-AF65-F5344CB8AC3E}">
        <p14:creationId xmlns:p14="http://schemas.microsoft.com/office/powerpoint/2010/main" val="66234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B1</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689404" cy="4752809"/>
          </a:xfrm>
        </p:spPr>
        <p:txBody>
          <a:bodyPr>
            <a:normAutofit/>
          </a:bodyPr>
          <a:lstStyle/>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假如我们有个</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map</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对象是这么声明的： </a:t>
            </a:r>
          </a:p>
          <a:p>
            <a:pPr marL="0" indent="0">
              <a:lnSpc>
                <a:spcPct val="150000"/>
              </a:lnSpc>
              <a:buNone/>
            </a:pP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std::map&lt;int, std::string&gt;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my_map.insert</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make_pair</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(10,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china</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my_map.insert</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make_pair</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(20,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usa</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my_map.insert</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make_pair</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(30,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english</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my_map.insert</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(std::</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make_pair</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(40, "</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hongkong</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插入值后我们想得到值为”</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english</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的这条记录，要怎样写程序呢？请用</a:t>
            </a:r>
            <a:r>
              <a:rPr kumimoji="1" lang="en" altLang="zh-CN" sz="1800" dirty="0" err="1">
                <a:latin typeface="Times New Roman" panose="02020603050405020304" pitchFamily="18" charset="0"/>
                <a:ea typeface="KaiTi" panose="02010609060101010101" pitchFamily="49" charset="-122"/>
                <a:cs typeface="Times New Roman" panose="02020603050405020304" pitchFamily="18" charset="0"/>
              </a:rPr>
              <a:t>find_if</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函数实现。</a:t>
            </a:r>
          </a:p>
        </p:txBody>
      </p:sp>
      <p:pic>
        <p:nvPicPr>
          <p:cNvPr id="3" name="图片 2">
            <a:extLst>
              <a:ext uri="{FF2B5EF4-FFF2-40B4-BE49-F238E27FC236}">
                <a16:creationId xmlns:a16="http://schemas.microsoft.com/office/drawing/2014/main" id="{8A2B3A33-E5E1-3A0A-2A61-23FD33EBF796}"/>
              </a:ext>
            </a:extLst>
          </p:cNvPr>
          <p:cNvPicPr>
            <a:picLocks noChangeAspect="1"/>
          </p:cNvPicPr>
          <p:nvPr/>
        </p:nvPicPr>
        <p:blipFill>
          <a:blip r:embed="rId3"/>
          <a:stretch>
            <a:fillRect/>
          </a:stretch>
        </p:blipFill>
        <p:spPr>
          <a:xfrm>
            <a:off x="3832262" y="331620"/>
            <a:ext cx="8143976" cy="6161255"/>
          </a:xfrm>
          <a:prstGeom prst="rect">
            <a:avLst/>
          </a:prstGeom>
        </p:spPr>
      </p:pic>
    </p:spTree>
    <p:extLst>
      <p:ext uri="{BB962C8B-B14F-4D97-AF65-F5344CB8AC3E}">
        <p14:creationId xmlns:p14="http://schemas.microsoft.com/office/powerpoint/2010/main" val="2289958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B2</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689404" cy="4752809"/>
          </a:xfrm>
        </p:spPr>
        <p:txBody>
          <a:bodyPr>
            <a:normAutofit/>
          </a:bodyPr>
          <a:lstStyle/>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用</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STL</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的容器</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vector</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和</a:t>
            </a:r>
            <a:r>
              <a:rPr kumimoji="1" lang="en" altLang="zh-CN" sz="1800" dirty="0">
                <a:latin typeface="Times New Roman" panose="02020603050405020304" pitchFamily="18" charset="0"/>
                <a:ea typeface="KaiTi" panose="02010609060101010101" pitchFamily="49" charset="-122"/>
                <a:cs typeface="Times New Roman" panose="02020603050405020304" pitchFamily="18" charset="0"/>
              </a:rPr>
              <a:t>partition</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实现快速排序功能。 </a:t>
            </a:r>
          </a:p>
        </p:txBody>
      </p:sp>
      <p:pic>
        <p:nvPicPr>
          <p:cNvPr id="5" name="图片 4">
            <a:extLst>
              <a:ext uri="{FF2B5EF4-FFF2-40B4-BE49-F238E27FC236}">
                <a16:creationId xmlns:a16="http://schemas.microsoft.com/office/drawing/2014/main" id="{2E3E2C53-EE80-5265-4774-77F247CFD66A}"/>
              </a:ext>
            </a:extLst>
          </p:cNvPr>
          <p:cNvPicPr>
            <a:picLocks noChangeAspect="1"/>
          </p:cNvPicPr>
          <p:nvPr/>
        </p:nvPicPr>
        <p:blipFill>
          <a:blip r:embed="rId3"/>
          <a:stretch>
            <a:fillRect/>
          </a:stretch>
        </p:blipFill>
        <p:spPr>
          <a:xfrm>
            <a:off x="3911855" y="2182521"/>
            <a:ext cx="4542093" cy="4310354"/>
          </a:xfrm>
          <a:prstGeom prst="rect">
            <a:avLst/>
          </a:prstGeom>
        </p:spPr>
      </p:pic>
    </p:spTree>
    <p:extLst>
      <p:ext uri="{BB962C8B-B14F-4D97-AF65-F5344CB8AC3E}">
        <p14:creationId xmlns:p14="http://schemas.microsoft.com/office/powerpoint/2010/main" val="3215104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B3</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4956110" cy="4752809"/>
          </a:xfrm>
        </p:spPr>
        <p:txBody>
          <a:bodyPr>
            <a:normAutofit/>
          </a:bodyPr>
          <a:lstStyle/>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读取一个英文的文本文件，统计文本文件中的单词的词频，按照词频从大到小依次输出单词和词频。</a:t>
            </a:r>
          </a:p>
        </p:txBody>
      </p:sp>
      <p:pic>
        <p:nvPicPr>
          <p:cNvPr id="3" name="图片 2">
            <a:extLst>
              <a:ext uri="{FF2B5EF4-FFF2-40B4-BE49-F238E27FC236}">
                <a16:creationId xmlns:a16="http://schemas.microsoft.com/office/drawing/2014/main" id="{1472DBA7-DDC2-D6A6-B747-037686AC8AA6}"/>
              </a:ext>
            </a:extLst>
          </p:cNvPr>
          <p:cNvPicPr>
            <a:picLocks noChangeAspect="1"/>
          </p:cNvPicPr>
          <p:nvPr/>
        </p:nvPicPr>
        <p:blipFill>
          <a:blip r:embed="rId3"/>
          <a:stretch>
            <a:fillRect/>
          </a:stretch>
        </p:blipFill>
        <p:spPr>
          <a:xfrm>
            <a:off x="1935285" y="2644114"/>
            <a:ext cx="4586418" cy="4019642"/>
          </a:xfrm>
          <a:prstGeom prst="rect">
            <a:avLst/>
          </a:prstGeom>
        </p:spPr>
      </p:pic>
      <p:pic>
        <p:nvPicPr>
          <p:cNvPr id="5" name="图片 4">
            <a:extLst>
              <a:ext uri="{FF2B5EF4-FFF2-40B4-BE49-F238E27FC236}">
                <a16:creationId xmlns:a16="http://schemas.microsoft.com/office/drawing/2014/main" id="{59DE9F86-1696-6ADB-2EE6-72821BA477D5}"/>
              </a:ext>
            </a:extLst>
          </p:cNvPr>
          <p:cNvPicPr>
            <a:picLocks noChangeAspect="1"/>
          </p:cNvPicPr>
          <p:nvPr/>
        </p:nvPicPr>
        <p:blipFill>
          <a:blip r:embed="rId4"/>
          <a:stretch>
            <a:fillRect/>
          </a:stretch>
        </p:blipFill>
        <p:spPr>
          <a:xfrm>
            <a:off x="6767382" y="1120893"/>
            <a:ext cx="4586418" cy="5542863"/>
          </a:xfrm>
          <a:prstGeom prst="rect">
            <a:avLst/>
          </a:prstGeom>
        </p:spPr>
      </p:pic>
    </p:spTree>
    <p:extLst>
      <p:ext uri="{BB962C8B-B14F-4D97-AF65-F5344CB8AC3E}">
        <p14:creationId xmlns:p14="http://schemas.microsoft.com/office/powerpoint/2010/main" val="3521324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13</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A7</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553269" cy="4752809"/>
          </a:xfrm>
        </p:spPr>
        <p:txBody>
          <a:bodyPr>
            <a:normAutofit/>
          </a:bodyPr>
          <a:lstStyle/>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统计一个文本文件中某个字符串的出现次数，把该字符串的出现次数及出现在的各个位置输出到显示器。</a:t>
            </a:r>
          </a:p>
        </p:txBody>
      </p:sp>
      <p:pic>
        <p:nvPicPr>
          <p:cNvPr id="3" name="图片 2">
            <a:extLst>
              <a:ext uri="{FF2B5EF4-FFF2-40B4-BE49-F238E27FC236}">
                <a16:creationId xmlns:a16="http://schemas.microsoft.com/office/drawing/2014/main" id="{6BB165E0-86F9-6741-74E0-6073880E1540}"/>
              </a:ext>
            </a:extLst>
          </p:cNvPr>
          <p:cNvPicPr>
            <a:picLocks noChangeAspect="1"/>
          </p:cNvPicPr>
          <p:nvPr/>
        </p:nvPicPr>
        <p:blipFill>
          <a:blip r:embed="rId3"/>
          <a:stretch>
            <a:fillRect/>
          </a:stretch>
        </p:blipFill>
        <p:spPr>
          <a:xfrm>
            <a:off x="6512767" y="365125"/>
            <a:ext cx="5255382" cy="6172279"/>
          </a:xfrm>
          <a:prstGeom prst="rect">
            <a:avLst/>
          </a:prstGeom>
        </p:spPr>
      </p:pic>
    </p:spTree>
    <p:extLst>
      <p:ext uri="{BB962C8B-B14F-4D97-AF65-F5344CB8AC3E}">
        <p14:creationId xmlns:p14="http://schemas.microsoft.com/office/powerpoint/2010/main" val="2351140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13</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A8</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7344747" cy="4752809"/>
          </a:xfrm>
        </p:spPr>
        <p:txBody>
          <a:bodyPr>
            <a:normAutofit/>
          </a:bodyPr>
          <a:lstStyle/>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某个文本文件中存有一批学生的</a:t>
            </a:r>
            <a:r>
              <a:rPr kumimoji="1" lang="en-US" altLang="zh-CN" sz="1800" dirty="0">
                <a:latin typeface="Times New Roman" panose="02020603050405020304" pitchFamily="18" charset="0"/>
                <a:ea typeface="KaiTi" panose="02010609060101010101" pitchFamily="49" charset="-122"/>
                <a:cs typeface="Times New Roman" panose="02020603050405020304" pitchFamily="18" charset="0"/>
              </a:rPr>
              <a:t>8</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门课成绩信息。文件是按行组织的，每一行包括一个学生的学号、姓名以及</a:t>
            </a:r>
            <a:r>
              <a:rPr kumimoji="1" lang="en-US" altLang="zh-CN" sz="1800" dirty="0">
                <a:latin typeface="Times New Roman" panose="02020603050405020304" pitchFamily="18" charset="0"/>
                <a:ea typeface="KaiTi" panose="02010609060101010101" pitchFamily="49" charset="-122"/>
                <a:cs typeface="Times New Roman" panose="02020603050405020304" pitchFamily="18" charset="0"/>
              </a:rPr>
              <a:t>8</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门课成绩。读入这些数据并计算各人的平均成绩，然后按平均成绩由大到小把所有学生的学号、姓名及平均成绩输出到另一个文件中。</a:t>
            </a:r>
          </a:p>
        </p:txBody>
      </p:sp>
      <p:pic>
        <p:nvPicPr>
          <p:cNvPr id="4" name="图片 3">
            <a:extLst>
              <a:ext uri="{FF2B5EF4-FFF2-40B4-BE49-F238E27FC236}">
                <a16:creationId xmlns:a16="http://schemas.microsoft.com/office/drawing/2014/main" id="{AC866E60-188E-5004-DA39-1A44D77D9C86}"/>
              </a:ext>
            </a:extLst>
          </p:cNvPr>
          <p:cNvPicPr>
            <a:picLocks noChangeAspect="1"/>
          </p:cNvPicPr>
          <p:nvPr/>
        </p:nvPicPr>
        <p:blipFill>
          <a:blip r:embed="rId3"/>
          <a:stretch>
            <a:fillRect/>
          </a:stretch>
        </p:blipFill>
        <p:spPr>
          <a:xfrm>
            <a:off x="4495191" y="2964941"/>
            <a:ext cx="3473874" cy="3661650"/>
          </a:xfrm>
          <a:prstGeom prst="rect">
            <a:avLst/>
          </a:prstGeom>
        </p:spPr>
      </p:pic>
      <p:pic>
        <p:nvPicPr>
          <p:cNvPr id="5" name="图片 4">
            <a:extLst>
              <a:ext uri="{FF2B5EF4-FFF2-40B4-BE49-F238E27FC236}">
                <a16:creationId xmlns:a16="http://schemas.microsoft.com/office/drawing/2014/main" id="{ACCB0E63-F87C-0BA7-4EC7-82FBCEC6871F}"/>
              </a:ext>
            </a:extLst>
          </p:cNvPr>
          <p:cNvPicPr>
            <a:picLocks noChangeAspect="1"/>
          </p:cNvPicPr>
          <p:nvPr/>
        </p:nvPicPr>
        <p:blipFill>
          <a:blip r:embed="rId4"/>
          <a:stretch>
            <a:fillRect/>
          </a:stretch>
        </p:blipFill>
        <p:spPr>
          <a:xfrm>
            <a:off x="8108302" y="263113"/>
            <a:ext cx="3595657" cy="6363478"/>
          </a:xfrm>
          <a:prstGeom prst="rect">
            <a:avLst/>
          </a:prstGeom>
        </p:spPr>
      </p:pic>
    </p:spTree>
    <p:extLst>
      <p:ext uri="{BB962C8B-B14F-4D97-AF65-F5344CB8AC3E}">
        <p14:creationId xmlns:p14="http://schemas.microsoft.com/office/powerpoint/2010/main" val="3676086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13</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A9</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4752809"/>
          </a:xfrm>
        </p:spPr>
        <p:txBody>
          <a:bodyPr>
            <a:normAutofit/>
          </a:bodyPr>
          <a:lstStyle/>
          <a:p>
            <a:pPr marL="0" indent="0">
              <a:lnSpc>
                <a:spcPct val="150000"/>
              </a:lnSpc>
              <a:buNone/>
            </a:pP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一个文件中存储了一批英语单词（每行一个），编写一个程序把该文件中的英语单词按词典次序排序。</a:t>
            </a:r>
          </a:p>
        </p:txBody>
      </p:sp>
      <p:pic>
        <p:nvPicPr>
          <p:cNvPr id="3" name="图片 2">
            <a:extLst>
              <a:ext uri="{FF2B5EF4-FFF2-40B4-BE49-F238E27FC236}">
                <a16:creationId xmlns:a16="http://schemas.microsoft.com/office/drawing/2014/main" id="{5E5DD360-A3AC-199D-3197-4B1253AE6DD5}"/>
              </a:ext>
            </a:extLst>
          </p:cNvPr>
          <p:cNvPicPr>
            <a:picLocks noChangeAspect="1"/>
          </p:cNvPicPr>
          <p:nvPr/>
        </p:nvPicPr>
        <p:blipFill>
          <a:blip r:embed="rId3"/>
          <a:stretch>
            <a:fillRect/>
          </a:stretch>
        </p:blipFill>
        <p:spPr>
          <a:xfrm>
            <a:off x="3614543" y="2166886"/>
            <a:ext cx="4962914" cy="4523162"/>
          </a:xfrm>
          <a:prstGeom prst="rect">
            <a:avLst/>
          </a:prstGeom>
        </p:spPr>
      </p:pic>
    </p:spTree>
    <p:extLst>
      <p:ext uri="{BB962C8B-B14F-4D97-AF65-F5344CB8AC3E}">
        <p14:creationId xmlns:p14="http://schemas.microsoft.com/office/powerpoint/2010/main" val="359005070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2059</TotalTime>
  <Words>804</Words>
  <Application>Microsoft Macintosh PowerPoint</Application>
  <PresentationFormat>宽屏</PresentationFormat>
  <Paragraphs>61</Paragraphs>
  <Slides>17</Slides>
  <Notes>16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17</vt:i4>
      </vt:variant>
    </vt:vector>
  </HeadingPairs>
  <TitlesOfParts>
    <vt:vector size="23" baseType="lpstr">
      <vt:lpstr>等线</vt:lpstr>
      <vt:lpstr>等线 Light</vt:lpstr>
      <vt:lpstr>KaiTi</vt:lpstr>
      <vt:lpstr>Arial</vt:lpstr>
      <vt:lpstr>Times New Roman</vt:lpstr>
      <vt:lpstr>Office 主题​​</vt:lpstr>
      <vt:lpstr>C++习题课(11-13)</vt:lpstr>
      <vt:lpstr>习题11：B1</vt:lpstr>
      <vt:lpstr>习题11：B2</vt:lpstr>
      <vt:lpstr>习题11：B3</vt:lpstr>
      <vt:lpstr>习题12：A1</vt:lpstr>
      <vt:lpstr>习题12：A2</vt:lpstr>
      <vt:lpstr>习题12：A3</vt:lpstr>
      <vt:lpstr>习题12：A4</vt:lpstr>
      <vt:lpstr>习题12：A5</vt:lpstr>
      <vt:lpstr>习题12：A6</vt:lpstr>
      <vt:lpstr>习题12：B1</vt:lpstr>
      <vt:lpstr>习题12：B1</vt:lpstr>
      <vt:lpstr>习题12：B2</vt:lpstr>
      <vt:lpstr>习题12：B3</vt:lpstr>
      <vt:lpstr>习题13：A7</vt:lpstr>
      <vt:lpstr>习题13：A8</vt:lpstr>
      <vt:lpstr>习题13：A9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Microsoft Office User</cp:lastModifiedBy>
  <cp:revision>118</cp:revision>
  <dcterms:created xsi:type="dcterms:W3CDTF">2022-03-10T12:33:41Z</dcterms:created>
  <dcterms:modified xsi:type="dcterms:W3CDTF">2022-05-23T17:24:20Z</dcterms:modified>
</cp:coreProperties>
</file>