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314" r:id="rId3"/>
    <p:sldId id="340" r:id="rId4"/>
    <p:sldId id="341" r:id="rId5"/>
    <p:sldId id="342" r:id="rId6"/>
    <p:sldId id="343" r:id="rId7"/>
    <p:sldId id="344" r:id="rId8"/>
    <p:sldId id="345" r:id="rId9"/>
    <p:sldId id="346" r:id="rId10"/>
    <p:sldId id="347" r:id="rId11"/>
    <p:sldId id="348"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64" r:id="rId28"/>
    <p:sldId id="365" r:id="rId29"/>
    <p:sldId id="366" r:id="rId30"/>
    <p:sldId id="367" r:id="rId31"/>
    <p:sldId id="368" r:id="rId32"/>
    <p:sldId id="369" r:id="rId33"/>
    <p:sldId id="370" r:id="rId34"/>
    <p:sldId id="371" r:id="rId35"/>
    <p:sldId id="372" r:id="rId36"/>
    <p:sldId id="373" r:id="rId37"/>
    <p:sldId id="374"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025"/>
    <p:restoredTop sz="94593"/>
  </p:normalViewPr>
  <p:slideViewPr>
    <p:cSldViewPr snapToGrid="0" snapToObjects="1">
      <p:cViewPr varScale="1">
        <p:scale>
          <a:sx n="136" d="100"/>
          <a:sy n="136" d="100"/>
        </p:scale>
        <p:origin x="1472" y="20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5B3090-818E-374E-8128-98EBD59247F5}" type="datetimeFigureOut">
              <a:rPr kumimoji="1" lang="zh-CN" altLang="en-US" smtClean="0"/>
              <a:t>2022/4/13</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8DA4FA-D663-874B-B906-A8066347C0A4}" type="slidenum">
              <a:rPr kumimoji="1" lang="zh-CN" altLang="en-US" smtClean="0"/>
              <a:t>‹#›</a:t>
            </a:fld>
            <a:endParaRPr kumimoji="1" lang="zh-CN" altLang="en-US"/>
          </a:p>
        </p:txBody>
      </p:sp>
    </p:spTree>
    <p:extLst>
      <p:ext uri="{BB962C8B-B14F-4D97-AF65-F5344CB8AC3E}">
        <p14:creationId xmlns:p14="http://schemas.microsoft.com/office/powerpoint/2010/main" val="2118206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a:t>
            </a:fld>
            <a:endParaRPr kumimoji="1" lang="zh-CN" altLang="en-US"/>
          </a:p>
        </p:txBody>
      </p:sp>
    </p:spTree>
    <p:extLst>
      <p:ext uri="{BB962C8B-B14F-4D97-AF65-F5344CB8AC3E}">
        <p14:creationId xmlns:p14="http://schemas.microsoft.com/office/powerpoint/2010/main" val="2931900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3</a:t>
            </a:fld>
            <a:endParaRPr kumimoji="1" lang="zh-CN" altLang="en-US"/>
          </a:p>
        </p:txBody>
      </p:sp>
    </p:spTree>
    <p:extLst>
      <p:ext uri="{BB962C8B-B14F-4D97-AF65-F5344CB8AC3E}">
        <p14:creationId xmlns:p14="http://schemas.microsoft.com/office/powerpoint/2010/main" val="3115555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4</a:t>
            </a:fld>
            <a:endParaRPr kumimoji="1" lang="zh-CN" altLang="en-US"/>
          </a:p>
        </p:txBody>
      </p:sp>
    </p:spTree>
    <p:extLst>
      <p:ext uri="{BB962C8B-B14F-4D97-AF65-F5344CB8AC3E}">
        <p14:creationId xmlns:p14="http://schemas.microsoft.com/office/powerpoint/2010/main" val="1953881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5</a:t>
            </a:fld>
            <a:endParaRPr kumimoji="1" lang="zh-CN" altLang="en-US"/>
          </a:p>
        </p:txBody>
      </p:sp>
    </p:spTree>
    <p:extLst>
      <p:ext uri="{BB962C8B-B14F-4D97-AF65-F5344CB8AC3E}">
        <p14:creationId xmlns:p14="http://schemas.microsoft.com/office/powerpoint/2010/main" val="2892418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6</a:t>
            </a:fld>
            <a:endParaRPr kumimoji="1" lang="zh-CN" altLang="en-US"/>
          </a:p>
        </p:txBody>
      </p:sp>
    </p:spTree>
    <p:extLst>
      <p:ext uri="{BB962C8B-B14F-4D97-AF65-F5344CB8AC3E}">
        <p14:creationId xmlns:p14="http://schemas.microsoft.com/office/powerpoint/2010/main" val="3211255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7</a:t>
            </a:fld>
            <a:endParaRPr kumimoji="1" lang="zh-CN" altLang="en-US"/>
          </a:p>
        </p:txBody>
      </p:sp>
    </p:spTree>
    <p:extLst>
      <p:ext uri="{BB962C8B-B14F-4D97-AF65-F5344CB8AC3E}">
        <p14:creationId xmlns:p14="http://schemas.microsoft.com/office/powerpoint/2010/main" val="3369030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8</a:t>
            </a:fld>
            <a:endParaRPr kumimoji="1" lang="zh-CN" altLang="en-US"/>
          </a:p>
        </p:txBody>
      </p:sp>
    </p:spTree>
    <p:extLst>
      <p:ext uri="{BB962C8B-B14F-4D97-AF65-F5344CB8AC3E}">
        <p14:creationId xmlns:p14="http://schemas.microsoft.com/office/powerpoint/2010/main" val="655435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9</a:t>
            </a:fld>
            <a:endParaRPr kumimoji="1" lang="zh-CN" altLang="en-US"/>
          </a:p>
        </p:txBody>
      </p:sp>
    </p:spTree>
    <p:extLst>
      <p:ext uri="{BB962C8B-B14F-4D97-AF65-F5344CB8AC3E}">
        <p14:creationId xmlns:p14="http://schemas.microsoft.com/office/powerpoint/2010/main" val="1626654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10</a:t>
            </a:fld>
            <a:endParaRPr kumimoji="1" lang="zh-CN" altLang="en-US"/>
          </a:p>
        </p:txBody>
      </p:sp>
    </p:spTree>
    <p:extLst>
      <p:ext uri="{BB962C8B-B14F-4D97-AF65-F5344CB8AC3E}">
        <p14:creationId xmlns:p14="http://schemas.microsoft.com/office/powerpoint/2010/main" val="3210537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11</a:t>
            </a:fld>
            <a:endParaRPr kumimoji="1" lang="zh-CN" altLang="en-US"/>
          </a:p>
        </p:txBody>
      </p:sp>
    </p:spTree>
    <p:extLst>
      <p:ext uri="{BB962C8B-B14F-4D97-AF65-F5344CB8AC3E}">
        <p14:creationId xmlns:p14="http://schemas.microsoft.com/office/powerpoint/2010/main" val="2117916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12</a:t>
            </a:fld>
            <a:endParaRPr kumimoji="1" lang="zh-CN" altLang="en-US"/>
          </a:p>
        </p:txBody>
      </p:sp>
    </p:spTree>
    <p:extLst>
      <p:ext uri="{BB962C8B-B14F-4D97-AF65-F5344CB8AC3E}">
        <p14:creationId xmlns:p14="http://schemas.microsoft.com/office/powerpoint/2010/main" val="3212316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13</a:t>
            </a:fld>
            <a:endParaRPr kumimoji="1" lang="zh-CN" altLang="en-US"/>
          </a:p>
        </p:txBody>
      </p:sp>
    </p:spTree>
    <p:extLst>
      <p:ext uri="{BB962C8B-B14F-4D97-AF65-F5344CB8AC3E}">
        <p14:creationId xmlns:p14="http://schemas.microsoft.com/office/powerpoint/2010/main" val="1106651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14</a:t>
            </a:fld>
            <a:endParaRPr kumimoji="1" lang="zh-CN" altLang="en-US"/>
          </a:p>
        </p:txBody>
      </p:sp>
    </p:spTree>
    <p:extLst>
      <p:ext uri="{BB962C8B-B14F-4D97-AF65-F5344CB8AC3E}">
        <p14:creationId xmlns:p14="http://schemas.microsoft.com/office/powerpoint/2010/main" val="3709549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15</a:t>
            </a:fld>
            <a:endParaRPr kumimoji="1" lang="zh-CN" altLang="en-US"/>
          </a:p>
        </p:txBody>
      </p:sp>
    </p:spTree>
    <p:extLst>
      <p:ext uri="{BB962C8B-B14F-4D97-AF65-F5344CB8AC3E}">
        <p14:creationId xmlns:p14="http://schemas.microsoft.com/office/powerpoint/2010/main" val="2577227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16</a:t>
            </a:fld>
            <a:endParaRPr kumimoji="1" lang="zh-CN" altLang="en-US"/>
          </a:p>
        </p:txBody>
      </p:sp>
    </p:spTree>
    <p:extLst>
      <p:ext uri="{BB962C8B-B14F-4D97-AF65-F5344CB8AC3E}">
        <p14:creationId xmlns:p14="http://schemas.microsoft.com/office/powerpoint/2010/main" val="37847802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17</a:t>
            </a:fld>
            <a:endParaRPr kumimoji="1" lang="zh-CN" altLang="en-US"/>
          </a:p>
        </p:txBody>
      </p:sp>
    </p:spTree>
    <p:extLst>
      <p:ext uri="{BB962C8B-B14F-4D97-AF65-F5344CB8AC3E}">
        <p14:creationId xmlns:p14="http://schemas.microsoft.com/office/powerpoint/2010/main" val="2478733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18</a:t>
            </a:fld>
            <a:endParaRPr kumimoji="1" lang="zh-CN" altLang="en-US"/>
          </a:p>
        </p:txBody>
      </p:sp>
    </p:spTree>
    <p:extLst>
      <p:ext uri="{BB962C8B-B14F-4D97-AF65-F5344CB8AC3E}">
        <p14:creationId xmlns:p14="http://schemas.microsoft.com/office/powerpoint/2010/main" val="4247887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19</a:t>
            </a:fld>
            <a:endParaRPr kumimoji="1" lang="zh-CN" altLang="en-US"/>
          </a:p>
        </p:txBody>
      </p:sp>
    </p:spTree>
    <p:extLst>
      <p:ext uri="{BB962C8B-B14F-4D97-AF65-F5344CB8AC3E}">
        <p14:creationId xmlns:p14="http://schemas.microsoft.com/office/powerpoint/2010/main" val="1783201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20</a:t>
            </a:fld>
            <a:endParaRPr kumimoji="1" lang="zh-CN" altLang="en-US"/>
          </a:p>
        </p:txBody>
      </p:sp>
    </p:spTree>
    <p:extLst>
      <p:ext uri="{BB962C8B-B14F-4D97-AF65-F5344CB8AC3E}">
        <p14:creationId xmlns:p14="http://schemas.microsoft.com/office/powerpoint/2010/main" val="2071259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21</a:t>
            </a:fld>
            <a:endParaRPr kumimoji="1" lang="zh-CN" altLang="en-US"/>
          </a:p>
        </p:txBody>
      </p:sp>
    </p:spTree>
    <p:extLst>
      <p:ext uri="{BB962C8B-B14F-4D97-AF65-F5344CB8AC3E}">
        <p14:creationId xmlns:p14="http://schemas.microsoft.com/office/powerpoint/2010/main" val="42158903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22</a:t>
            </a:fld>
            <a:endParaRPr kumimoji="1" lang="zh-CN" altLang="en-US"/>
          </a:p>
        </p:txBody>
      </p:sp>
    </p:spTree>
    <p:extLst>
      <p:ext uri="{BB962C8B-B14F-4D97-AF65-F5344CB8AC3E}">
        <p14:creationId xmlns:p14="http://schemas.microsoft.com/office/powerpoint/2010/main" val="916796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23</a:t>
            </a:fld>
            <a:endParaRPr kumimoji="1" lang="zh-CN" altLang="en-US"/>
          </a:p>
        </p:txBody>
      </p:sp>
    </p:spTree>
    <p:extLst>
      <p:ext uri="{BB962C8B-B14F-4D97-AF65-F5344CB8AC3E}">
        <p14:creationId xmlns:p14="http://schemas.microsoft.com/office/powerpoint/2010/main" val="6016551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24</a:t>
            </a:fld>
            <a:endParaRPr kumimoji="1" lang="zh-CN" altLang="en-US"/>
          </a:p>
        </p:txBody>
      </p:sp>
    </p:spTree>
    <p:extLst>
      <p:ext uri="{BB962C8B-B14F-4D97-AF65-F5344CB8AC3E}">
        <p14:creationId xmlns:p14="http://schemas.microsoft.com/office/powerpoint/2010/main" val="13775582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25</a:t>
            </a:fld>
            <a:endParaRPr kumimoji="1" lang="zh-CN" altLang="en-US"/>
          </a:p>
        </p:txBody>
      </p:sp>
    </p:spTree>
    <p:extLst>
      <p:ext uri="{BB962C8B-B14F-4D97-AF65-F5344CB8AC3E}">
        <p14:creationId xmlns:p14="http://schemas.microsoft.com/office/powerpoint/2010/main" val="21820532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26</a:t>
            </a:fld>
            <a:endParaRPr kumimoji="1" lang="zh-CN" altLang="en-US"/>
          </a:p>
        </p:txBody>
      </p:sp>
    </p:spTree>
    <p:extLst>
      <p:ext uri="{BB962C8B-B14F-4D97-AF65-F5344CB8AC3E}">
        <p14:creationId xmlns:p14="http://schemas.microsoft.com/office/powerpoint/2010/main" val="34874198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27</a:t>
            </a:fld>
            <a:endParaRPr kumimoji="1" lang="zh-CN" altLang="en-US"/>
          </a:p>
        </p:txBody>
      </p:sp>
    </p:spTree>
    <p:extLst>
      <p:ext uri="{BB962C8B-B14F-4D97-AF65-F5344CB8AC3E}">
        <p14:creationId xmlns:p14="http://schemas.microsoft.com/office/powerpoint/2010/main" val="38741288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28</a:t>
            </a:fld>
            <a:endParaRPr kumimoji="1" lang="zh-CN" altLang="en-US"/>
          </a:p>
        </p:txBody>
      </p:sp>
    </p:spTree>
    <p:extLst>
      <p:ext uri="{BB962C8B-B14F-4D97-AF65-F5344CB8AC3E}">
        <p14:creationId xmlns:p14="http://schemas.microsoft.com/office/powerpoint/2010/main" val="34199750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29</a:t>
            </a:fld>
            <a:endParaRPr kumimoji="1" lang="zh-CN" altLang="en-US"/>
          </a:p>
        </p:txBody>
      </p:sp>
    </p:spTree>
    <p:extLst>
      <p:ext uri="{BB962C8B-B14F-4D97-AF65-F5344CB8AC3E}">
        <p14:creationId xmlns:p14="http://schemas.microsoft.com/office/powerpoint/2010/main" val="10506329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30</a:t>
            </a:fld>
            <a:endParaRPr kumimoji="1" lang="zh-CN" altLang="en-US"/>
          </a:p>
        </p:txBody>
      </p:sp>
    </p:spTree>
    <p:extLst>
      <p:ext uri="{BB962C8B-B14F-4D97-AF65-F5344CB8AC3E}">
        <p14:creationId xmlns:p14="http://schemas.microsoft.com/office/powerpoint/2010/main" val="20167275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31</a:t>
            </a:fld>
            <a:endParaRPr kumimoji="1" lang="zh-CN" altLang="en-US"/>
          </a:p>
        </p:txBody>
      </p:sp>
    </p:spTree>
    <p:extLst>
      <p:ext uri="{BB962C8B-B14F-4D97-AF65-F5344CB8AC3E}">
        <p14:creationId xmlns:p14="http://schemas.microsoft.com/office/powerpoint/2010/main" val="14799658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32</a:t>
            </a:fld>
            <a:endParaRPr kumimoji="1" lang="zh-CN" altLang="en-US"/>
          </a:p>
        </p:txBody>
      </p:sp>
    </p:spTree>
    <p:extLst>
      <p:ext uri="{BB962C8B-B14F-4D97-AF65-F5344CB8AC3E}">
        <p14:creationId xmlns:p14="http://schemas.microsoft.com/office/powerpoint/2010/main" val="12333647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33</a:t>
            </a:fld>
            <a:endParaRPr kumimoji="1" lang="zh-CN" altLang="en-US"/>
          </a:p>
        </p:txBody>
      </p:sp>
    </p:spTree>
    <p:extLst>
      <p:ext uri="{BB962C8B-B14F-4D97-AF65-F5344CB8AC3E}">
        <p14:creationId xmlns:p14="http://schemas.microsoft.com/office/powerpoint/2010/main" val="962797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34</a:t>
            </a:fld>
            <a:endParaRPr kumimoji="1" lang="zh-CN" altLang="en-US"/>
          </a:p>
        </p:txBody>
      </p:sp>
    </p:spTree>
    <p:extLst>
      <p:ext uri="{BB962C8B-B14F-4D97-AF65-F5344CB8AC3E}">
        <p14:creationId xmlns:p14="http://schemas.microsoft.com/office/powerpoint/2010/main" val="8162973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35</a:t>
            </a:fld>
            <a:endParaRPr kumimoji="1" lang="zh-CN" altLang="en-US"/>
          </a:p>
        </p:txBody>
      </p:sp>
    </p:spTree>
    <p:extLst>
      <p:ext uri="{BB962C8B-B14F-4D97-AF65-F5344CB8AC3E}">
        <p14:creationId xmlns:p14="http://schemas.microsoft.com/office/powerpoint/2010/main" val="32865314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36</a:t>
            </a:fld>
            <a:endParaRPr kumimoji="1" lang="zh-CN" altLang="en-US"/>
          </a:p>
        </p:txBody>
      </p:sp>
    </p:spTree>
    <p:extLst>
      <p:ext uri="{BB962C8B-B14F-4D97-AF65-F5344CB8AC3E}">
        <p14:creationId xmlns:p14="http://schemas.microsoft.com/office/powerpoint/2010/main" val="9773759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AD19B33-44B1-6245-85F6-AE609686B486}" type="slidenum">
              <a:rPr kumimoji="1" lang="zh-CN" altLang="en-US" smtClean="0"/>
              <a:t>37</a:t>
            </a:fld>
            <a:endParaRPr kumimoji="1" lang="zh-CN" altLang="en-US"/>
          </a:p>
        </p:txBody>
      </p:sp>
    </p:spTree>
    <p:extLst>
      <p:ext uri="{BB962C8B-B14F-4D97-AF65-F5344CB8AC3E}">
        <p14:creationId xmlns:p14="http://schemas.microsoft.com/office/powerpoint/2010/main" val="3495313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BD4C4E-B1CA-C547-BCF1-A4C85F2A20CD}"/>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8DC064E-0AC5-5240-A83E-29DDC4AD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7DB9A00C-78A3-CC41-B4C8-83CE6A990D1B}"/>
              </a:ext>
            </a:extLst>
          </p:cNvPr>
          <p:cNvSpPr>
            <a:spLocks noGrp="1"/>
          </p:cNvSpPr>
          <p:nvPr>
            <p:ph type="dt" sz="half" idx="10"/>
          </p:nvPr>
        </p:nvSpPr>
        <p:spPr/>
        <p:txBody>
          <a:bodyPr/>
          <a:lstStyle/>
          <a:p>
            <a:fld id="{78A26B84-87D9-CD40-AC10-40C642A1F7BC}" type="datetimeFigureOut">
              <a:rPr kumimoji="1" lang="zh-CN" altLang="en-US" smtClean="0"/>
              <a:t>2022/4/13</a:t>
            </a:fld>
            <a:endParaRPr kumimoji="1" lang="zh-CN" altLang="en-US"/>
          </a:p>
        </p:txBody>
      </p:sp>
      <p:sp>
        <p:nvSpPr>
          <p:cNvPr id="5" name="页脚占位符 4">
            <a:extLst>
              <a:ext uri="{FF2B5EF4-FFF2-40B4-BE49-F238E27FC236}">
                <a16:creationId xmlns:a16="http://schemas.microsoft.com/office/drawing/2014/main" id="{7833F5B6-7918-6F41-BEB4-7358C6F8880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DC0046F-0E7C-CE41-9C8F-FD763F6AD594}"/>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3242438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A04C63-0CCA-AB44-A6D4-2C31ED3DFC91}"/>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90A762B-7D65-9A4D-B858-0BD435A3AF96}"/>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AB788BC-847C-A642-8CB7-6A18FD7EA560}"/>
              </a:ext>
            </a:extLst>
          </p:cNvPr>
          <p:cNvSpPr>
            <a:spLocks noGrp="1"/>
          </p:cNvSpPr>
          <p:nvPr>
            <p:ph type="dt" sz="half" idx="10"/>
          </p:nvPr>
        </p:nvSpPr>
        <p:spPr/>
        <p:txBody>
          <a:bodyPr/>
          <a:lstStyle/>
          <a:p>
            <a:fld id="{78A26B84-87D9-CD40-AC10-40C642A1F7BC}" type="datetimeFigureOut">
              <a:rPr kumimoji="1" lang="zh-CN" altLang="en-US" smtClean="0"/>
              <a:t>2022/4/13</a:t>
            </a:fld>
            <a:endParaRPr kumimoji="1" lang="zh-CN" altLang="en-US"/>
          </a:p>
        </p:txBody>
      </p:sp>
      <p:sp>
        <p:nvSpPr>
          <p:cNvPr id="5" name="页脚占位符 4">
            <a:extLst>
              <a:ext uri="{FF2B5EF4-FFF2-40B4-BE49-F238E27FC236}">
                <a16:creationId xmlns:a16="http://schemas.microsoft.com/office/drawing/2014/main" id="{34198D49-3713-0B40-8A80-8F37C107E2C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8E7D06F-0A5C-C449-814F-AB6C30466DF9}"/>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733219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D430B8-8A34-1248-AAC6-B3E0437DF66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AC4AEB35-3B32-CE45-94A8-5917398BA8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301B0AB-1952-2140-950C-4BCB490BD17C}"/>
              </a:ext>
            </a:extLst>
          </p:cNvPr>
          <p:cNvSpPr>
            <a:spLocks noGrp="1"/>
          </p:cNvSpPr>
          <p:nvPr>
            <p:ph type="dt" sz="half" idx="10"/>
          </p:nvPr>
        </p:nvSpPr>
        <p:spPr/>
        <p:txBody>
          <a:bodyPr/>
          <a:lstStyle/>
          <a:p>
            <a:fld id="{78A26B84-87D9-CD40-AC10-40C642A1F7BC}" type="datetimeFigureOut">
              <a:rPr kumimoji="1" lang="zh-CN" altLang="en-US" smtClean="0"/>
              <a:t>2022/4/13</a:t>
            </a:fld>
            <a:endParaRPr kumimoji="1" lang="zh-CN" altLang="en-US"/>
          </a:p>
        </p:txBody>
      </p:sp>
      <p:sp>
        <p:nvSpPr>
          <p:cNvPr id="5" name="页脚占位符 4">
            <a:extLst>
              <a:ext uri="{FF2B5EF4-FFF2-40B4-BE49-F238E27FC236}">
                <a16:creationId xmlns:a16="http://schemas.microsoft.com/office/drawing/2014/main" id="{DC244F7C-32A8-444E-9FCB-3F739915F1F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4EBFA62-4E5B-0B4C-848B-7503F399ECA6}"/>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783373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44392D-A227-8A44-8672-3F6144F1917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132C1E4-4E3B-124A-8572-43993873D0BC}"/>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3A5F6823-85DC-A74E-8ED9-4E997AE7020A}"/>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CE07E4B2-C29D-B349-951D-B38AA1E824D8}"/>
              </a:ext>
            </a:extLst>
          </p:cNvPr>
          <p:cNvSpPr>
            <a:spLocks noGrp="1"/>
          </p:cNvSpPr>
          <p:nvPr>
            <p:ph type="dt" sz="half" idx="10"/>
          </p:nvPr>
        </p:nvSpPr>
        <p:spPr/>
        <p:txBody>
          <a:bodyPr/>
          <a:lstStyle/>
          <a:p>
            <a:fld id="{78A26B84-87D9-CD40-AC10-40C642A1F7BC}" type="datetimeFigureOut">
              <a:rPr kumimoji="1" lang="zh-CN" altLang="en-US" smtClean="0"/>
              <a:t>2022/4/13</a:t>
            </a:fld>
            <a:endParaRPr kumimoji="1" lang="zh-CN" altLang="en-US"/>
          </a:p>
        </p:txBody>
      </p:sp>
      <p:sp>
        <p:nvSpPr>
          <p:cNvPr id="6" name="页脚占位符 5">
            <a:extLst>
              <a:ext uri="{FF2B5EF4-FFF2-40B4-BE49-F238E27FC236}">
                <a16:creationId xmlns:a16="http://schemas.microsoft.com/office/drawing/2014/main" id="{E7AE855E-9DDC-9447-A7AC-9057B515DB8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B65EEAD-7A15-E64F-9715-579E1292506D}"/>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272641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69BACD-B8CA-B44F-A260-A123911C075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3446AC0-468D-084A-8959-F17DE5D116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49545C1-0F43-2143-B7CA-B43ABBD97AF4}"/>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DAE6A95-98F9-084E-B93B-69F469CAAA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F53B583-E5AE-8D4E-8CD5-19C22DF9001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1F763DF-3B58-C84E-9549-0B331D891A9D}"/>
              </a:ext>
            </a:extLst>
          </p:cNvPr>
          <p:cNvSpPr>
            <a:spLocks noGrp="1"/>
          </p:cNvSpPr>
          <p:nvPr>
            <p:ph type="dt" sz="half" idx="10"/>
          </p:nvPr>
        </p:nvSpPr>
        <p:spPr/>
        <p:txBody>
          <a:bodyPr/>
          <a:lstStyle/>
          <a:p>
            <a:fld id="{78A26B84-87D9-CD40-AC10-40C642A1F7BC}" type="datetimeFigureOut">
              <a:rPr kumimoji="1" lang="zh-CN" altLang="en-US" smtClean="0"/>
              <a:t>2022/4/13</a:t>
            </a:fld>
            <a:endParaRPr kumimoji="1" lang="zh-CN" altLang="en-US"/>
          </a:p>
        </p:txBody>
      </p:sp>
      <p:sp>
        <p:nvSpPr>
          <p:cNvPr id="8" name="页脚占位符 7">
            <a:extLst>
              <a:ext uri="{FF2B5EF4-FFF2-40B4-BE49-F238E27FC236}">
                <a16:creationId xmlns:a16="http://schemas.microsoft.com/office/drawing/2014/main" id="{691DF1AD-EEB9-7C41-8DF8-ABCC52057703}"/>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87BF9A17-93E6-5C40-A0AB-FD9F83AFA595}"/>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182971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8FCE4D-95A3-E24E-88F0-6AA312A42F5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EFA2393-9058-D44E-98F2-27E2A31A7699}"/>
              </a:ext>
            </a:extLst>
          </p:cNvPr>
          <p:cNvSpPr>
            <a:spLocks noGrp="1"/>
          </p:cNvSpPr>
          <p:nvPr>
            <p:ph type="dt" sz="half" idx="10"/>
          </p:nvPr>
        </p:nvSpPr>
        <p:spPr/>
        <p:txBody>
          <a:bodyPr/>
          <a:lstStyle/>
          <a:p>
            <a:fld id="{78A26B84-87D9-CD40-AC10-40C642A1F7BC}" type="datetimeFigureOut">
              <a:rPr kumimoji="1" lang="zh-CN" altLang="en-US" smtClean="0"/>
              <a:t>2022/4/13</a:t>
            </a:fld>
            <a:endParaRPr kumimoji="1" lang="zh-CN" altLang="en-US"/>
          </a:p>
        </p:txBody>
      </p:sp>
      <p:sp>
        <p:nvSpPr>
          <p:cNvPr id="4" name="页脚占位符 3">
            <a:extLst>
              <a:ext uri="{FF2B5EF4-FFF2-40B4-BE49-F238E27FC236}">
                <a16:creationId xmlns:a16="http://schemas.microsoft.com/office/drawing/2014/main" id="{AAA6D27C-8338-924D-A799-0914F8250ACF}"/>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F6ECE7C7-8CA8-BD4B-B502-C27A45AF044A}"/>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1798908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6C182C2-71C3-A24B-B4BD-6DC07CEF99ED}"/>
              </a:ext>
            </a:extLst>
          </p:cNvPr>
          <p:cNvSpPr>
            <a:spLocks noGrp="1"/>
          </p:cNvSpPr>
          <p:nvPr>
            <p:ph type="dt" sz="half" idx="10"/>
          </p:nvPr>
        </p:nvSpPr>
        <p:spPr/>
        <p:txBody>
          <a:bodyPr/>
          <a:lstStyle/>
          <a:p>
            <a:fld id="{78A26B84-87D9-CD40-AC10-40C642A1F7BC}" type="datetimeFigureOut">
              <a:rPr kumimoji="1" lang="zh-CN" altLang="en-US" smtClean="0"/>
              <a:t>2022/4/13</a:t>
            </a:fld>
            <a:endParaRPr kumimoji="1" lang="zh-CN" altLang="en-US"/>
          </a:p>
        </p:txBody>
      </p:sp>
      <p:sp>
        <p:nvSpPr>
          <p:cNvPr id="3" name="页脚占位符 2">
            <a:extLst>
              <a:ext uri="{FF2B5EF4-FFF2-40B4-BE49-F238E27FC236}">
                <a16:creationId xmlns:a16="http://schemas.microsoft.com/office/drawing/2014/main" id="{6D12A72D-55EC-664A-8575-00C1675C3FA0}"/>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EFEC68CA-A19F-EB43-A39C-58ED14C68DCC}"/>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3449498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831C2A-5D31-0B40-8274-90E547CBD12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476095EA-D173-3B45-B249-B956A5C2D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D817681-79DD-2B49-AACA-11877A61B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FFC9CCC-C5D8-7346-99EF-16CA8A77907C}"/>
              </a:ext>
            </a:extLst>
          </p:cNvPr>
          <p:cNvSpPr>
            <a:spLocks noGrp="1"/>
          </p:cNvSpPr>
          <p:nvPr>
            <p:ph type="dt" sz="half" idx="10"/>
          </p:nvPr>
        </p:nvSpPr>
        <p:spPr/>
        <p:txBody>
          <a:bodyPr/>
          <a:lstStyle/>
          <a:p>
            <a:fld id="{78A26B84-87D9-CD40-AC10-40C642A1F7BC}" type="datetimeFigureOut">
              <a:rPr kumimoji="1" lang="zh-CN" altLang="en-US" smtClean="0"/>
              <a:t>2022/4/13</a:t>
            </a:fld>
            <a:endParaRPr kumimoji="1" lang="zh-CN" altLang="en-US"/>
          </a:p>
        </p:txBody>
      </p:sp>
      <p:sp>
        <p:nvSpPr>
          <p:cNvPr id="6" name="页脚占位符 5">
            <a:extLst>
              <a:ext uri="{FF2B5EF4-FFF2-40B4-BE49-F238E27FC236}">
                <a16:creationId xmlns:a16="http://schemas.microsoft.com/office/drawing/2014/main" id="{B78D4E72-F5E0-444F-A188-3CD7B752A23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536EB40-6795-2B43-9844-FBFDFBE8E886}"/>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37170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C40590-458E-0C4C-A5F5-35C7DDA37FF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EFF1430-0A98-0A4B-92A2-B79B37F369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E03AD9A6-F1BE-EF40-AD58-278E9E4F58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B94F552A-6C01-5D42-ADEB-4723CED57D79}"/>
              </a:ext>
            </a:extLst>
          </p:cNvPr>
          <p:cNvSpPr>
            <a:spLocks noGrp="1"/>
          </p:cNvSpPr>
          <p:nvPr>
            <p:ph type="dt" sz="half" idx="10"/>
          </p:nvPr>
        </p:nvSpPr>
        <p:spPr/>
        <p:txBody>
          <a:bodyPr/>
          <a:lstStyle/>
          <a:p>
            <a:fld id="{78A26B84-87D9-CD40-AC10-40C642A1F7BC}" type="datetimeFigureOut">
              <a:rPr kumimoji="1" lang="zh-CN" altLang="en-US" smtClean="0"/>
              <a:t>2022/4/13</a:t>
            </a:fld>
            <a:endParaRPr kumimoji="1" lang="zh-CN" altLang="en-US"/>
          </a:p>
        </p:txBody>
      </p:sp>
      <p:sp>
        <p:nvSpPr>
          <p:cNvPr id="6" name="页脚占位符 5">
            <a:extLst>
              <a:ext uri="{FF2B5EF4-FFF2-40B4-BE49-F238E27FC236}">
                <a16:creationId xmlns:a16="http://schemas.microsoft.com/office/drawing/2014/main" id="{49FBDAB9-FB22-294A-9E2A-898E6269960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C80BC38-17E7-A54D-83F6-DD702634AA24}"/>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3174139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3C719C-A5CF-7640-A2CC-374169365E4F}"/>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CBA8AAB-11B3-5A49-AB3B-D4C61A518989}"/>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168D51D-7503-1746-BBFC-BE58B4138AE9}"/>
              </a:ext>
            </a:extLst>
          </p:cNvPr>
          <p:cNvSpPr>
            <a:spLocks noGrp="1"/>
          </p:cNvSpPr>
          <p:nvPr>
            <p:ph type="dt" sz="half" idx="10"/>
          </p:nvPr>
        </p:nvSpPr>
        <p:spPr/>
        <p:txBody>
          <a:bodyPr/>
          <a:lstStyle/>
          <a:p>
            <a:fld id="{78A26B84-87D9-CD40-AC10-40C642A1F7BC}" type="datetimeFigureOut">
              <a:rPr kumimoji="1" lang="zh-CN" altLang="en-US" smtClean="0"/>
              <a:t>2022/4/13</a:t>
            </a:fld>
            <a:endParaRPr kumimoji="1" lang="zh-CN" altLang="en-US"/>
          </a:p>
        </p:txBody>
      </p:sp>
      <p:sp>
        <p:nvSpPr>
          <p:cNvPr id="5" name="页脚占位符 4">
            <a:extLst>
              <a:ext uri="{FF2B5EF4-FFF2-40B4-BE49-F238E27FC236}">
                <a16:creationId xmlns:a16="http://schemas.microsoft.com/office/drawing/2014/main" id="{053C0E5E-EBAE-4C4F-B205-80BD89E21EB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8374BF4-7ECD-294E-95AB-0EAD827337DD}"/>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3123017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612963B-2C0A-F140-B9E2-5DB7D93F564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3A20E7A-6509-1B4A-953D-C3A4DEE0F8D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276ED73-C8A7-3C4E-9726-4C61C398D443}"/>
              </a:ext>
            </a:extLst>
          </p:cNvPr>
          <p:cNvSpPr>
            <a:spLocks noGrp="1"/>
          </p:cNvSpPr>
          <p:nvPr>
            <p:ph type="dt" sz="half" idx="10"/>
          </p:nvPr>
        </p:nvSpPr>
        <p:spPr/>
        <p:txBody>
          <a:bodyPr/>
          <a:lstStyle/>
          <a:p>
            <a:fld id="{78A26B84-87D9-CD40-AC10-40C642A1F7BC}" type="datetimeFigureOut">
              <a:rPr kumimoji="1" lang="zh-CN" altLang="en-US" smtClean="0"/>
              <a:t>2022/4/13</a:t>
            </a:fld>
            <a:endParaRPr kumimoji="1" lang="zh-CN" altLang="en-US"/>
          </a:p>
        </p:txBody>
      </p:sp>
      <p:sp>
        <p:nvSpPr>
          <p:cNvPr id="5" name="页脚占位符 4">
            <a:extLst>
              <a:ext uri="{FF2B5EF4-FFF2-40B4-BE49-F238E27FC236}">
                <a16:creationId xmlns:a16="http://schemas.microsoft.com/office/drawing/2014/main" id="{FD72EF4B-FCE4-5C4D-AE5C-57D4E91A377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D15662C-93E5-FD49-9FC9-7859D8A45D0B}"/>
              </a:ext>
            </a:extLst>
          </p:cNvPr>
          <p:cNvSpPr>
            <a:spLocks noGrp="1"/>
          </p:cNvSpPr>
          <p:nvPr>
            <p:ph type="sldNum" sz="quarter" idx="12"/>
          </p:nvPr>
        </p:nvSpPr>
        <p:spPr/>
        <p:txBody>
          <a:body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755794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23500FC-2C0A-5240-8815-3CAFC315D8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64F394BA-05F7-5849-9714-C6D4AC570E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5CE42A5-2597-1F40-B699-FE7BB23326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A26B84-87D9-CD40-AC10-40C642A1F7BC}" type="datetimeFigureOut">
              <a:rPr kumimoji="1" lang="zh-CN" altLang="en-US" smtClean="0"/>
              <a:t>2022/4/13</a:t>
            </a:fld>
            <a:endParaRPr kumimoji="1" lang="zh-CN" altLang="en-US"/>
          </a:p>
        </p:txBody>
      </p:sp>
      <p:sp>
        <p:nvSpPr>
          <p:cNvPr id="5" name="页脚占位符 4">
            <a:extLst>
              <a:ext uri="{FF2B5EF4-FFF2-40B4-BE49-F238E27FC236}">
                <a16:creationId xmlns:a16="http://schemas.microsoft.com/office/drawing/2014/main" id="{FA0F16E7-2EF5-D345-A056-7E3B5F175E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82DDFBE-46B9-C445-8181-7CA21B657B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8B9011-55A9-6242-A2E7-D712671FDDC7}" type="slidenum">
              <a:rPr kumimoji="1" lang="zh-CN" altLang="en-US" smtClean="0"/>
              <a:t>‹#›</a:t>
            </a:fld>
            <a:endParaRPr kumimoji="1" lang="zh-CN" altLang="en-US"/>
          </a:p>
        </p:txBody>
      </p:sp>
    </p:spTree>
    <p:extLst>
      <p:ext uri="{BB962C8B-B14F-4D97-AF65-F5344CB8AC3E}">
        <p14:creationId xmlns:p14="http://schemas.microsoft.com/office/powerpoint/2010/main" val="2536402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606377-C382-FC4B-B93F-55D7FEF4BB28}"/>
              </a:ext>
            </a:extLst>
          </p:cNvPr>
          <p:cNvSpPr>
            <a:spLocks noGrp="1"/>
          </p:cNvSpPr>
          <p:nvPr>
            <p:ph type="ctrTitle"/>
          </p:nvPr>
        </p:nvSpPr>
        <p:spPr/>
        <p:txBody>
          <a:bodyPr/>
          <a:lstStyle/>
          <a:p>
            <a:r>
              <a:rPr kumimoji="1" lang="en-US" altLang="zh-CN" b="1" dirty="0">
                <a:latin typeface="Times New Roman" panose="02020603050405020304" pitchFamily="18" charset="0"/>
                <a:ea typeface="KaiTi" panose="02010609060101010101" pitchFamily="49" charset="-122"/>
                <a:cs typeface="Times New Roman" panose="02020603050405020304" pitchFamily="18" charset="0"/>
              </a:rPr>
              <a:t>C++</a:t>
            </a:r>
            <a:r>
              <a:rPr kumimoji="1" lang="zh-CN" altLang="en-US" b="1" dirty="0">
                <a:latin typeface="KaiTi" panose="02010609060101010101" pitchFamily="49" charset="-122"/>
                <a:ea typeface="KaiTi" panose="02010609060101010101" pitchFamily="49" charset="-122"/>
                <a:cs typeface="Times New Roman" panose="02020603050405020304" pitchFamily="18" charset="0"/>
              </a:rPr>
              <a:t>习题课</a:t>
            </a:r>
            <a:r>
              <a:rPr kumimoji="1" lang="en-US" altLang="zh-CN" b="1" dirty="0">
                <a:latin typeface="KaiTi" panose="02010609060101010101" pitchFamily="49" charset="-122"/>
                <a:ea typeface="KaiTi" panose="02010609060101010101" pitchFamily="49" charset="-122"/>
                <a:cs typeface="Times New Roman" panose="02020603050405020304" pitchFamily="18" charset="0"/>
              </a:rPr>
              <a:t>(4-6)</a:t>
            </a:r>
            <a:endParaRPr kumimoji="1" lang="zh-CN" altLang="en-US" b="1" dirty="0">
              <a:latin typeface="KaiTi" panose="02010609060101010101" pitchFamily="49" charset="-122"/>
              <a:ea typeface="KaiTi"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263199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习题四：</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A25</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25</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）写出例</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5-11</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名表查找中折半查找的递归函数。</a:t>
            </a:r>
          </a:p>
        </p:txBody>
      </p:sp>
      <p:pic>
        <p:nvPicPr>
          <p:cNvPr id="3" name="图片 2">
            <a:extLst>
              <a:ext uri="{FF2B5EF4-FFF2-40B4-BE49-F238E27FC236}">
                <a16:creationId xmlns:a16="http://schemas.microsoft.com/office/drawing/2014/main" id="{76389A7F-B7BE-2546-A6CD-45266D246D88}"/>
              </a:ext>
            </a:extLst>
          </p:cNvPr>
          <p:cNvPicPr>
            <a:picLocks noChangeAspect="1"/>
          </p:cNvPicPr>
          <p:nvPr/>
        </p:nvPicPr>
        <p:blipFill>
          <a:blip r:embed="rId3"/>
          <a:stretch>
            <a:fillRect/>
          </a:stretch>
        </p:blipFill>
        <p:spPr>
          <a:xfrm>
            <a:off x="3162300" y="2258226"/>
            <a:ext cx="5867400" cy="2946400"/>
          </a:xfrm>
          <a:prstGeom prst="rect">
            <a:avLst/>
          </a:prstGeom>
        </p:spPr>
      </p:pic>
    </p:spTree>
    <p:extLst>
      <p:ext uri="{BB962C8B-B14F-4D97-AF65-F5344CB8AC3E}">
        <p14:creationId xmlns:p14="http://schemas.microsoft.com/office/powerpoint/2010/main" val="1040632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a:xfrm>
            <a:off x="838200" y="366900"/>
            <a:ext cx="10515600" cy="1325563"/>
          </a:xfrm>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习题四：</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A26</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26</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）编写一个程序解八皇后问题。八皇后问题是：设法在国际象棋的棋盘上放置八个皇后，使得其中 任何一个皇后所处的“行”、“列”以及“对角线”上都不能有其他皇后 。</a:t>
            </a:r>
          </a:p>
        </p:txBody>
      </p:sp>
      <p:pic>
        <p:nvPicPr>
          <p:cNvPr id="4" name="图片 3">
            <a:extLst>
              <a:ext uri="{FF2B5EF4-FFF2-40B4-BE49-F238E27FC236}">
                <a16:creationId xmlns:a16="http://schemas.microsoft.com/office/drawing/2014/main" id="{541CE838-D87E-7344-A0E9-CEB133B2D452}"/>
              </a:ext>
            </a:extLst>
          </p:cNvPr>
          <p:cNvPicPr>
            <a:picLocks noChangeAspect="1"/>
          </p:cNvPicPr>
          <p:nvPr/>
        </p:nvPicPr>
        <p:blipFill>
          <a:blip r:embed="rId3"/>
          <a:stretch>
            <a:fillRect/>
          </a:stretch>
        </p:blipFill>
        <p:spPr>
          <a:xfrm>
            <a:off x="2327273" y="2597905"/>
            <a:ext cx="3530600" cy="4111857"/>
          </a:xfrm>
          <a:prstGeom prst="rect">
            <a:avLst/>
          </a:prstGeom>
        </p:spPr>
      </p:pic>
      <p:pic>
        <p:nvPicPr>
          <p:cNvPr id="5" name="图片 4">
            <a:extLst>
              <a:ext uri="{FF2B5EF4-FFF2-40B4-BE49-F238E27FC236}">
                <a16:creationId xmlns:a16="http://schemas.microsoft.com/office/drawing/2014/main" id="{D625A5CA-5638-9A40-AFFE-1F2E2D7874C2}"/>
              </a:ext>
            </a:extLst>
          </p:cNvPr>
          <p:cNvPicPr>
            <a:picLocks noChangeAspect="1"/>
          </p:cNvPicPr>
          <p:nvPr/>
        </p:nvPicPr>
        <p:blipFill>
          <a:blip r:embed="rId4"/>
          <a:stretch>
            <a:fillRect/>
          </a:stretch>
        </p:blipFill>
        <p:spPr>
          <a:xfrm>
            <a:off x="6334129" y="2593603"/>
            <a:ext cx="4311650" cy="4116159"/>
          </a:xfrm>
          <a:prstGeom prst="rect">
            <a:avLst/>
          </a:prstGeom>
        </p:spPr>
      </p:pic>
      <p:sp>
        <p:nvSpPr>
          <p:cNvPr id="9" name="矩形 8">
            <a:extLst>
              <a:ext uri="{FF2B5EF4-FFF2-40B4-BE49-F238E27FC236}">
                <a16:creationId xmlns:a16="http://schemas.microsoft.com/office/drawing/2014/main" id="{BA5E2FE7-CB7C-2548-B60E-BFC3D3F3C5DA}"/>
              </a:ext>
            </a:extLst>
          </p:cNvPr>
          <p:cNvSpPr/>
          <p:nvPr/>
        </p:nvSpPr>
        <p:spPr>
          <a:xfrm>
            <a:off x="9143874" y="186900"/>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
        <p:nvSpPr>
          <p:cNvPr id="10" name="矩形 9">
            <a:extLst>
              <a:ext uri="{FF2B5EF4-FFF2-40B4-BE49-F238E27FC236}">
                <a16:creationId xmlns:a16="http://schemas.microsoft.com/office/drawing/2014/main" id="{8C374126-9A2F-9648-BF6F-764B566803DD}"/>
              </a:ext>
            </a:extLst>
          </p:cNvPr>
          <p:cNvSpPr/>
          <p:nvPr/>
        </p:nvSpPr>
        <p:spPr>
          <a:xfrm>
            <a:off x="9524509" y="186398"/>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09A87EFD-A8C0-0844-AD90-6D36012221D9}"/>
              </a:ext>
            </a:extLst>
          </p:cNvPr>
          <p:cNvSpPr/>
          <p:nvPr/>
        </p:nvSpPr>
        <p:spPr>
          <a:xfrm>
            <a:off x="9905144" y="186398"/>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AF4BFB01-AFD9-374D-9CC4-167903C68826}"/>
              </a:ext>
            </a:extLst>
          </p:cNvPr>
          <p:cNvSpPr/>
          <p:nvPr/>
        </p:nvSpPr>
        <p:spPr>
          <a:xfrm>
            <a:off x="10285779" y="186398"/>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
        <p:nvSpPr>
          <p:cNvPr id="20" name="矩形 19">
            <a:extLst>
              <a:ext uri="{FF2B5EF4-FFF2-40B4-BE49-F238E27FC236}">
                <a16:creationId xmlns:a16="http://schemas.microsoft.com/office/drawing/2014/main" id="{ED1F01B9-32A7-9A45-A27D-10528C2C10F3}"/>
              </a:ext>
            </a:extLst>
          </p:cNvPr>
          <p:cNvSpPr/>
          <p:nvPr/>
        </p:nvSpPr>
        <p:spPr>
          <a:xfrm>
            <a:off x="9143874" y="577963"/>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
        <p:nvSpPr>
          <p:cNvPr id="21" name="矩形 20">
            <a:extLst>
              <a:ext uri="{FF2B5EF4-FFF2-40B4-BE49-F238E27FC236}">
                <a16:creationId xmlns:a16="http://schemas.microsoft.com/office/drawing/2014/main" id="{0A560FA4-C03D-DC4D-87A9-4C4E6259D078}"/>
              </a:ext>
            </a:extLst>
          </p:cNvPr>
          <p:cNvSpPr/>
          <p:nvPr/>
        </p:nvSpPr>
        <p:spPr>
          <a:xfrm>
            <a:off x="9524509" y="577461"/>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
        <p:nvSpPr>
          <p:cNvPr id="22" name="矩形 21">
            <a:extLst>
              <a:ext uri="{FF2B5EF4-FFF2-40B4-BE49-F238E27FC236}">
                <a16:creationId xmlns:a16="http://schemas.microsoft.com/office/drawing/2014/main" id="{433F36AD-5F50-8C4F-A73B-101E526DA084}"/>
              </a:ext>
            </a:extLst>
          </p:cNvPr>
          <p:cNvSpPr/>
          <p:nvPr/>
        </p:nvSpPr>
        <p:spPr>
          <a:xfrm>
            <a:off x="9905144" y="577461"/>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
        <p:nvSpPr>
          <p:cNvPr id="23" name="矩形 22">
            <a:extLst>
              <a:ext uri="{FF2B5EF4-FFF2-40B4-BE49-F238E27FC236}">
                <a16:creationId xmlns:a16="http://schemas.microsoft.com/office/drawing/2014/main" id="{FDDAFDDC-5946-6B4A-8226-B8094507B738}"/>
              </a:ext>
            </a:extLst>
          </p:cNvPr>
          <p:cNvSpPr/>
          <p:nvPr/>
        </p:nvSpPr>
        <p:spPr>
          <a:xfrm>
            <a:off x="10285779" y="577461"/>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
        <p:nvSpPr>
          <p:cNvPr id="28" name="矩形 27">
            <a:extLst>
              <a:ext uri="{FF2B5EF4-FFF2-40B4-BE49-F238E27FC236}">
                <a16:creationId xmlns:a16="http://schemas.microsoft.com/office/drawing/2014/main" id="{207B4FFD-AA1D-D44E-A34A-C1D7B695D4A1}"/>
              </a:ext>
            </a:extLst>
          </p:cNvPr>
          <p:cNvSpPr/>
          <p:nvPr/>
        </p:nvSpPr>
        <p:spPr>
          <a:xfrm>
            <a:off x="9143874" y="968524"/>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
        <p:nvSpPr>
          <p:cNvPr id="29" name="矩形 28">
            <a:extLst>
              <a:ext uri="{FF2B5EF4-FFF2-40B4-BE49-F238E27FC236}">
                <a16:creationId xmlns:a16="http://schemas.microsoft.com/office/drawing/2014/main" id="{DC5B2D59-E5F4-FC40-9F38-DB5FE2E9A4E9}"/>
              </a:ext>
            </a:extLst>
          </p:cNvPr>
          <p:cNvSpPr/>
          <p:nvPr/>
        </p:nvSpPr>
        <p:spPr>
          <a:xfrm>
            <a:off x="9524509" y="968022"/>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
        <p:nvSpPr>
          <p:cNvPr id="30" name="矩形 29">
            <a:extLst>
              <a:ext uri="{FF2B5EF4-FFF2-40B4-BE49-F238E27FC236}">
                <a16:creationId xmlns:a16="http://schemas.microsoft.com/office/drawing/2014/main" id="{04C1865C-AEF1-EB4B-9AD7-E84F1BC35EE2}"/>
              </a:ext>
            </a:extLst>
          </p:cNvPr>
          <p:cNvSpPr/>
          <p:nvPr/>
        </p:nvSpPr>
        <p:spPr>
          <a:xfrm>
            <a:off x="9905144" y="968022"/>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
        <p:nvSpPr>
          <p:cNvPr id="31" name="矩形 30">
            <a:extLst>
              <a:ext uri="{FF2B5EF4-FFF2-40B4-BE49-F238E27FC236}">
                <a16:creationId xmlns:a16="http://schemas.microsoft.com/office/drawing/2014/main" id="{E800DC04-5966-6141-B268-46EB9125CCCF}"/>
              </a:ext>
            </a:extLst>
          </p:cNvPr>
          <p:cNvSpPr/>
          <p:nvPr/>
        </p:nvSpPr>
        <p:spPr>
          <a:xfrm>
            <a:off x="10285779" y="968022"/>
            <a:ext cx="360000" cy="360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2212729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习题四：</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A1~A3</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4752809"/>
          </a:xfrm>
        </p:spPr>
        <p:txBody>
          <a:bodyPr>
            <a:normAutofit fontScale="92500" lnSpcReduction="10000"/>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）从概念上讲，抽象与封装有什么不同？</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抽象：强调结构外部可观察到的行为与该结构的内部实现无关。</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封装：把一个语言结构的具体实现细节作为一个黑匣子对该结构的使用者隐藏起来封装考虑内部实现，抽象考虑外部行为。</a:t>
            </a:r>
          </a:p>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）对于一个类定义，哪些部分应放在头文件（</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.h</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）中，哪些部分放在实现文件（</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cpp</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）中？</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类定义放在头文件，类外定义的成员函数放在实现文件中。</a:t>
            </a:r>
          </a:p>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3</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）对类成员的访问，</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C++</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提供了哪些访问控制？</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public</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：访问不受限制</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private</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：只在本类和友元中访问</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protect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：只在本类，派生类，友元中访问</a:t>
            </a:r>
          </a:p>
        </p:txBody>
      </p:sp>
    </p:spTree>
    <p:extLst>
      <p:ext uri="{BB962C8B-B14F-4D97-AF65-F5344CB8AC3E}">
        <p14:creationId xmlns:p14="http://schemas.microsoft.com/office/powerpoint/2010/main" val="3741504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习题四：</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A13</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2578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13</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）定义一个描述二维坐标系中点对象的类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Point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，它具有下述成员函数：</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double r()</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double theta()</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double distance(const Point&amp; p)</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Point relative(const Point&amp; p)</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is_above_left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(const Point&amp; p)</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p>
        </p:txBody>
      </p:sp>
      <p:pic>
        <p:nvPicPr>
          <p:cNvPr id="3" name="图片 2">
            <a:extLst>
              <a:ext uri="{FF2B5EF4-FFF2-40B4-BE49-F238E27FC236}">
                <a16:creationId xmlns:a16="http://schemas.microsoft.com/office/drawing/2014/main" id="{E4D117D7-78E6-4349-9002-DF3BA7E30464}"/>
              </a:ext>
            </a:extLst>
          </p:cNvPr>
          <p:cNvPicPr>
            <a:picLocks noChangeAspect="1"/>
          </p:cNvPicPr>
          <p:nvPr/>
        </p:nvPicPr>
        <p:blipFill>
          <a:blip r:embed="rId3"/>
          <a:stretch>
            <a:fillRect/>
          </a:stretch>
        </p:blipFill>
        <p:spPr>
          <a:xfrm>
            <a:off x="6310464" y="469900"/>
            <a:ext cx="5043336" cy="5918200"/>
          </a:xfrm>
          <a:prstGeom prst="rect">
            <a:avLst/>
          </a:prstGeom>
        </p:spPr>
      </p:pic>
    </p:spTree>
    <p:extLst>
      <p:ext uri="{BB962C8B-B14F-4D97-AF65-F5344CB8AC3E}">
        <p14:creationId xmlns:p14="http://schemas.microsoft.com/office/powerpoint/2010/main" val="1225514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习题四：</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A14</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48641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14</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）定义一个时间类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Time</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，它能表示时分秒，并提供以下操作：</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Time(int h, int m, int s) </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void set(int h, int m, int s)</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void increment()</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void display()</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equal(Time&amp;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other_time</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less_than</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(Time&amp;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other_time</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p>
          <a:p>
            <a:pPr marL="0" indent="0">
              <a:lnSpc>
                <a:spcPct val="150000"/>
              </a:lnSpc>
              <a:buNone/>
            </a:pPr>
            <a:endParaRPr kumimoji="1" lang="zh-CN" altLang="en-US" sz="1800" dirty="0">
              <a:latin typeface="KaiTi" panose="02010609060101010101" pitchFamily="49" charset="-122"/>
              <a:ea typeface="KaiTi" panose="0201060906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26BC2639-B1EF-0A40-A22D-15AE233C63D3}"/>
              </a:ext>
            </a:extLst>
          </p:cNvPr>
          <p:cNvPicPr>
            <a:picLocks noChangeAspect="1"/>
          </p:cNvPicPr>
          <p:nvPr/>
        </p:nvPicPr>
        <p:blipFill>
          <a:blip r:embed="rId3"/>
          <a:stretch>
            <a:fillRect/>
          </a:stretch>
        </p:blipFill>
        <p:spPr>
          <a:xfrm>
            <a:off x="5791200" y="447675"/>
            <a:ext cx="5927200" cy="6045200"/>
          </a:xfrm>
          <a:prstGeom prst="rect">
            <a:avLst/>
          </a:prstGeom>
        </p:spPr>
      </p:pic>
    </p:spTree>
    <p:extLst>
      <p:ext uri="{BB962C8B-B14F-4D97-AF65-F5344CB8AC3E}">
        <p14:creationId xmlns:p14="http://schemas.microsoft.com/office/powerpoint/2010/main" val="3237605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习题四：</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A15</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848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15</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）定义一个日期类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Date</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，它能表示年、月、日为其设计一个成员函数</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increment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，它能把某个日期增加一天。</a:t>
            </a:r>
          </a:p>
          <a:p>
            <a:pPr marL="0" indent="0">
              <a:lnSpc>
                <a:spcPct val="150000"/>
              </a:lnSpc>
              <a:buNone/>
            </a:pPr>
            <a:endParaRPr kumimoji="1" lang="zh-CN" altLang="en-US" sz="1800" dirty="0">
              <a:latin typeface="KaiTi" panose="02010609060101010101" pitchFamily="49" charset="-122"/>
              <a:ea typeface="KaiTi" panose="020106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B37B718F-B252-B84D-8CF9-126FF8C0919D}"/>
              </a:ext>
            </a:extLst>
          </p:cNvPr>
          <p:cNvPicPr>
            <a:picLocks noChangeAspect="1"/>
          </p:cNvPicPr>
          <p:nvPr/>
        </p:nvPicPr>
        <p:blipFill>
          <a:blip r:embed="rId3"/>
          <a:stretch>
            <a:fillRect/>
          </a:stretch>
        </p:blipFill>
        <p:spPr>
          <a:xfrm>
            <a:off x="6489702" y="214847"/>
            <a:ext cx="5384800" cy="6428305"/>
          </a:xfrm>
          <a:prstGeom prst="rect">
            <a:avLst/>
          </a:prstGeom>
        </p:spPr>
      </p:pic>
    </p:spTree>
    <p:extLst>
      <p:ext uri="{BB962C8B-B14F-4D97-AF65-F5344CB8AC3E}">
        <p14:creationId xmlns:p14="http://schemas.microsoft.com/office/powerpoint/2010/main" val="2990363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习题四：</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A16</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848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16</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）为例</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6-4</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中的字符串类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String</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增加下面的成员函数：</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is_substring</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(const char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sub_str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is_substring</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(const String &amp;</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sub_str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String substring(int start, int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len</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find_replace_str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(const char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find_str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 const char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replace_str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void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remove_spaces</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to_int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void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to_lower_case</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p:txBody>
      </p:sp>
      <p:pic>
        <p:nvPicPr>
          <p:cNvPr id="4" name="图片 3">
            <a:extLst>
              <a:ext uri="{FF2B5EF4-FFF2-40B4-BE49-F238E27FC236}">
                <a16:creationId xmlns:a16="http://schemas.microsoft.com/office/drawing/2014/main" id="{071C9229-3DB7-9948-956D-00AEA2BB74A5}"/>
              </a:ext>
            </a:extLst>
          </p:cNvPr>
          <p:cNvPicPr>
            <a:picLocks noChangeAspect="1"/>
          </p:cNvPicPr>
          <p:nvPr/>
        </p:nvPicPr>
        <p:blipFill>
          <a:blip r:embed="rId3"/>
          <a:stretch>
            <a:fillRect/>
          </a:stretch>
        </p:blipFill>
        <p:spPr>
          <a:xfrm>
            <a:off x="6223000" y="1812138"/>
            <a:ext cx="5704704" cy="3481388"/>
          </a:xfrm>
          <a:prstGeom prst="rect">
            <a:avLst/>
          </a:prstGeom>
        </p:spPr>
      </p:pic>
    </p:spTree>
    <p:extLst>
      <p:ext uri="{BB962C8B-B14F-4D97-AF65-F5344CB8AC3E}">
        <p14:creationId xmlns:p14="http://schemas.microsoft.com/office/powerpoint/2010/main" val="2342375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习题四：</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A16</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848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16</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）为例</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6-4</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中的字符串类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String</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增加下面的成员函数：</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is_substring</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(const char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sub_str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is_substring</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(const String &amp;</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sub_str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String substring(int start, int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len</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find_replace_str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(const char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find_str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 const char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replace_str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void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remove_spaces</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to_int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void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to_lower_case</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p:txBody>
      </p:sp>
      <p:pic>
        <p:nvPicPr>
          <p:cNvPr id="3" name="图片 2">
            <a:extLst>
              <a:ext uri="{FF2B5EF4-FFF2-40B4-BE49-F238E27FC236}">
                <a16:creationId xmlns:a16="http://schemas.microsoft.com/office/drawing/2014/main" id="{133611FC-3505-2549-918A-B97A26C3C8C3}"/>
              </a:ext>
            </a:extLst>
          </p:cNvPr>
          <p:cNvPicPr>
            <a:picLocks noChangeAspect="1"/>
          </p:cNvPicPr>
          <p:nvPr/>
        </p:nvPicPr>
        <p:blipFill>
          <a:blip r:embed="rId3"/>
          <a:stretch>
            <a:fillRect/>
          </a:stretch>
        </p:blipFill>
        <p:spPr>
          <a:xfrm>
            <a:off x="6223000" y="1817650"/>
            <a:ext cx="5524500" cy="4068800"/>
          </a:xfrm>
          <a:prstGeom prst="rect">
            <a:avLst/>
          </a:prstGeom>
        </p:spPr>
      </p:pic>
    </p:spTree>
    <p:extLst>
      <p:ext uri="{BB962C8B-B14F-4D97-AF65-F5344CB8AC3E}">
        <p14:creationId xmlns:p14="http://schemas.microsoft.com/office/powerpoint/2010/main" val="113536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习题四：</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A16</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848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16</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）为例</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6-4</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中的字符串类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String</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增加下面的成员函数：</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1</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is_substring</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(const char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sub_str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2</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is_substring</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(const String &amp;</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sub_str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3</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String substring(int start, int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len</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4</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find_replace_str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(const char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find_str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 const char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replace_str</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5</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void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remove_spaces</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6</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to_int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7</a:t>
            </a:r>
            <a:r>
              <a:rPr kumimoji="1" lang="zh-CN" altLang="en-US" sz="14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void </a:t>
            </a:r>
            <a:r>
              <a:rPr kumimoji="1" lang="en-US" altLang="zh-CN" sz="1400" dirty="0" err="1">
                <a:latin typeface="KaiTi" panose="02010609060101010101" pitchFamily="49" charset="-122"/>
                <a:ea typeface="KaiTi" panose="02010609060101010101" pitchFamily="49" charset="-122"/>
                <a:cs typeface="Times New Roman" panose="02020603050405020304" pitchFamily="18" charset="0"/>
              </a:rPr>
              <a:t>to_lower_case</a:t>
            </a: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a:t>
            </a:r>
          </a:p>
        </p:txBody>
      </p:sp>
      <p:pic>
        <p:nvPicPr>
          <p:cNvPr id="4" name="图片 3">
            <a:extLst>
              <a:ext uri="{FF2B5EF4-FFF2-40B4-BE49-F238E27FC236}">
                <a16:creationId xmlns:a16="http://schemas.microsoft.com/office/drawing/2014/main" id="{E67A61CA-3A39-0D4C-AADA-4ABBFF4EF661}"/>
              </a:ext>
            </a:extLst>
          </p:cNvPr>
          <p:cNvPicPr>
            <a:picLocks noChangeAspect="1"/>
          </p:cNvPicPr>
          <p:nvPr/>
        </p:nvPicPr>
        <p:blipFill>
          <a:blip r:embed="rId3"/>
          <a:stretch>
            <a:fillRect/>
          </a:stretch>
        </p:blipFill>
        <p:spPr>
          <a:xfrm>
            <a:off x="6223000" y="1816100"/>
            <a:ext cx="5867400" cy="3028335"/>
          </a:xfrm>
          <a:prstGeom prst="rect">
            <a:avLst/>
          </a:prstGeom>
        </p:spPr>
      </p:pic>
    </p:spTree>
    <p:extLst>
      <p:ext uri="{BB962C8B-B14F-4D97-AF65-F5344CB8AC3E}">
        <p14:creationId xmlns:p14="http://schemas.microsoft.com/office/powerpoint/2010/main" val="4280354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习题四：</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B1</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848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 </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实现栈这种数据结构。要求：用链表形式来存储栈数据；实现栈的常用函数。</a:t>
            </a:r>
          </a:p>
        </p:txBody>
      </p:sp>
      <p:pic>
        <p:nvPicPr>
          <p:cNvPr id="3" name="图片 2">
            <a:extLst>
              <a:ext uri="{FF2B5EF4-FFF2-40B4-BE49-F238E27FC236}">
                <a16:creationId xmlns:a16="http://schemas.microsoft.com/office/drawing/2014/main" id="{E7CA31F6-2A86-894E-9F09-EA3936F1E326}"/>
              </a:ext>
            </a:extLst>
          </p:cNvPr>
          <p:cNvPicPr>
            <a:picLocks noChangeAspect="1"/>
          </p:cNvPicPr>
          <p:nvPr/>
        </p:nvPicPr>
        <p:blipFill>
          <a:blip r:embed="rId3"/>
          <a:stretch>
            <a:fillRect/>
          </a:stretch>
        </p:blipFill>
        <p:spPr>
          <a:xfrm>
            <a:off x="6223000" y="0"/>
            <a:ext cx="2577353" cy="6858000"/>
          </a:xfrm>
          <a:prstGeom prst="rect">
            <a:avLst/>
          </a:prstGeom>
        </p:spPr>
      </p:pic>
      <p:pic>
        <p:nvPicPr>
          <p:cNvPr id="5" name="图片 4">
            <a:extLst>
              <a:ext uri="{FF2B5EF4-FFF2-40B4-BE49-F238E27FC236}">
                <a16:creationId xmlns:a16="http://schemas.microsoft.com/office/drawing/2014/main" id="{B9FFFECB-A9C9-8843-8879-54403AC1B7E1}"/>
              </a:ext>
            </a:extLst>
          </p:cNvPr>
          <p:cNvPicPr>
            <a:picLocks noChangeAspect="1"/>
          </p:cNvPicPr>
          <p:nvPr/>
        </p:nvPicPr>
        <p:blipFill>
          <a:blip r:embed="rId4"/>
          <a:stretch>
            <a:fillRect/>
          </a:stretch>
        </p:blipFill>
        <p:spPr>
          <a:xfrm>
            <a:off x="9030309" y="365125"/>
            <a:ext cx="3161691" cy="6096000"/>
          </a:xfrm>
          <a:prstGeom prst="rect">
            <a:avLst/>
          </a:prstGeom>
        </p:spPr>
      </p:pic>
    </p:spTree>
    <p:extLst>
      <p:ext uri="{BB962C8B-B14F-4D97-AF65-F5344CB8AC3E}">
        <p14:creationId xmlns:p14="http://schemas.microsoft.com/office/powerpoint/2010/main" val="2053698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A4~A6</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4</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）在</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C++</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中，</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this</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指针的作用是什么？</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this</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指针存在于类的非静态成员函数中，指向被调用函数类实例的地址。 </a:t>
            </a:r>
          </a:p>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5</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）构造函数成员初始化表的作用是什么？</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用于对类的成员进行初始化。当类中有常量或引用类型数据成员时，如果类中定义了构造函数，一定要在定义的所有构造函数的成员初始化表中对它们进行初始化。 </a:t>
            </a:r>
          </a:p>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6</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）拷贝构造函数的作用是什么？何时会调用拷贝构造函数？</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拷贝构造函数用于创建对象时用同类对象对其初始化使用。调用拷贝构造函数的情况如下：</a:t>
            </a:r>
            <a:endParaRPr kumimoji="1" lang="en-US" altLang="zh-CN" sz="1800" dirty="0">
              <a:latin typeface="KaiTi" panose="02010609060101010101" pitchFamily="49" charset="-122"/>
              <a:ea typeface="KaiTi" panose="02010609060101010101" pitchFamily="49" charset="-122"/>
              <a:cs typeface="Times New Roman" panose="02020603050405020304" pitchFamily="18" charset="0"/>
            </a:endParaRP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）定义对象时</a:t>
            </a:r>
            <a:endParaRPr kumimoji="1" lang="en-US" altLang="zh-CN" sz="1800" dirty="0">
              <a:latin typeface="KaiTi" panose="02010609060101010101" pitchFamily="49" charset="-122"/>
              <a:ea typeface="KaiTi" panose="02010609060101010101" pitchFamily="49" charset="-122"/>
              <a:cs typeface="Times New Roman" panose="02020603050405020304" pitchFamily="18" charset="0"/>
            </a:endParaRP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）将对象作为值参数传给函数</a:t>
            </a:r>
            <a:endParaRPr kumimoji="1" lang="en-US" altLang="zh-CN" sz="1800" dirty="0">
              <a:latin typeface="KaiTi" panose="02010609060101010101" pitchFamily="49" charset="-122"/>
              <a:ea typeface="KaiTi" panose="02010609060101010101" pitchFamily="49" charset="-122"/>
              <a:cs typeface="Times New Roman" panose="02020603050405020304" pitchFamily="18" charset="0"/>
            </a:endParaRP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3</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）对象作为返回值。</a:t>
            </a:r>
          </a:p>
        </p:txBody>
      </p:sp>
    </p:spTree>
    <p:extLst>
      <p:ext uri="{BB962C8B-B14F-4D97-AF65-F5344CB8AC3E}">
        <p14:creationId xmlns:p14="http://schemas.microsoft.com/office/powerpoint/2010/main" val="529140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A7~A9</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）对于一个类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，为什么下面的构造函数不合法？ </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A(A x);</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该构造函数如果合法的话，将会拷贝一个</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类的对象</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x</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。但因为</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 x</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）的</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x</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前没有加引用符号</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(&amp;)</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，所以对象</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x</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作为值参数传递，需要先对</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x</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进行拷贝，这样就陷入无限递归。所以这样的构造函数不合法。</a:t>
            </a:r>
          </a:p>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8</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）在创建包含成员对象的类的对象时，为什么首先要初始化成员对象？</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包含成员对象的构造函数中可能用到成员对象，若未初始化则会用到未初始化的对象，构造函数则没有意义。</a:t>
            </a:r>
          </a:p>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9</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）何时需要定义析构函数？</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对象创建后申请一部分动态内存空间并且未归还，则定义析构函数在其消亡时归还。</a:t>
            </a:r>
          </a:p>
        </p:txBody>
      </p:sp>
    </p:spTree>
    <p:extLst>
      <p:ext uri="{BB962C8B-B14F-4D97-AF65-F5344CB8AC3E}">
        <p14:creationId xmlns:p14="http://schemas.microsoft.com/office/powerpoint/2010/main" val="948231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A10~A12</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10</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）静态数据成员的作用是什么？静态数据成员如何初始化？</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静态数据成员用于解决同一个类的对象的数据共享。静态数据成员往往要在类的外部进行初始化（</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static</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的整型常量和枚举类型常量成员可以在类定义中进行初始化）。</a:t>
            </a:r>
          </a:p>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11</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）类作用域与局部作用域有什么不同？</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局部作用域从声明点开始到块结束处为止。</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类作用域为类定义和相应成员函数定义范围。范围内成员函数对数据成员具有无限制访问权。</a:t>
            </a:r>
          </a:p>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12</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）在定义一个包含成员对象的类时，表示成员对象的数据成员何时定义为成员对象指针和成员对象本身？</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对象</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b</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作为另一对象</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组成成分，且关系不会变化时，定义为成员对象；若组成关系会发生变化或</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b</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不属于</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的一部分，只是有关联，则定义为对象指针。</a:t>
            </a:r>
          </a:p>
        </p:txBody>
      </p:sp>
    </p:spTree>
    <p:extLst>
      <p:ext uri="{BB962C8B-B14F-4D97-AF65-F5344CB8AC3E}">
        <p14:creationId xmlns:p14="http://schemas.microsoft.com/office/powerpoint/2010/main" val="2629257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A17</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0673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）定义一个元素类型为</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，元素个数不受限制的集合类</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IntSet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，该类型具有下面的接口：</a:t>
            </a:r>
          </a:p>
        </p:txBody>
      </p:sp>
      <p:pic>
        <p:nvPicPr>
          <p:cNvPr id="5" name="图片 4">
            <a:extLst>
              <a:ext uri="{FF2B5EF4-FFF2-40B4-BE49-F238E27FC236}">
                <a16:creationId xmlns:a16="http://schemas.microsoft.com/office/drawing/2014/main" id="{AFCDDA10-3676-C54C-A078-277F41C3F04E}"/>
              </a:ext>
            </a:extLst>
          </p:cNvPr>
          <p:cNvPicPr>
            <a:picLocks noChangeAspect="1"/>
          </p:cNvPicPr>
          <p:nvPr/>
        </p:nvPicPr>
        <p:blipFill>
          <a:blip r:embed="rId3"/>
          <a:stretch>
            <a:fillRect/>
          </a:stretch>
        </p:blipFill>
        <p:spPr>
          <a:xfrm>
            <a:off x="929618" y="2603499"/>
            <a:ext cx="4975882" cy="3067837"/>
          </a:xfrm>
          <a:prstGeom prst="rect">
            <a:avLst/>
          </a:prstGeom>
        </p:spPr>
      </p:pic>
      <p:pic>
        <p:nvPicPr>
          <p:cNvPr id="6" name="图片 5">
            <a:extLst>
              <a:ext uri="{FF2B5EF4-FFF2-40B4-BE49-F238E27FC236}">
                <a16:creationId xmlns:a16="http://schemas.microsoft.com/office/drawing/2014/main" id="{602E6BA9-E11E-D34F-80F9-613CB5E548B1}"/>
              </a:ext>
            </a:extLst>
          </p:cNvPr>
          <p:cNvPicPr>
            <a:picLocks noChangeAspect="1"/>
          </p:cNvPicPr>
          <p:nvPr/>
        </p:nvPicPr>
        <p:blipFill>
          <a:blip r:embed="rId4"/>
          <a:stretch>
            <a:fillRect/>
          </a:stretch>
        </p:blipFill>
        <p:spPr>
          <a:xfrm>
            <a:off x="6741182" y="365125"/>
            <a:ext cx="4521200" cy="6223000"/>
          </a:xfrm>
          <a:prstGeom prst="rect">
            <a:avLst/>
          </a:prstGeom>
        </p:spPr>
      </p:pic>
    </p:spTree>
    <p:extLst>
      <p:ext uri="{BB962C8B-B14F-4D97-AF65-F5344CB8AC3E}">
        <p14:creationId xmlns:p14="http://schemas.microsoft.com/office/powerpoint/2010/main" val="825733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A17</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0673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）定义一个元素类型为</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，元素个数不受限制的集合类</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IntSet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，该类型具有下面的接口：</a:t>
            </a:r>
          </a:p>
        </p:txBody>
      </p:sp>
      <p:pic>
        <p:nvPicPr>
          <p:cNvPr id="5" name="图片 4">
            <a:extLst>
              <a:ext uri="{FF2B5EF4-FFF2-40B4-BE49-F238E27FC236}">
                <a16:creationId xmlns:a16="http://schemas.microsoft.com/office/drawing/2014/main" id="{AFCDDA10-3676-C54C-A078-277F41C3F04E}"/>
              </a:ext>
            </a:extLst>
          </p:cNvPr>
          <p:cNvPicPr>
            <a:picLocks noChangeAspect="1"/>
          </p:cNvPicPr>
          <p:nvPr/>
        </p:nvPicPr>
        <p:blipFill>
          <a:blip r:embed="rId3"/>
          <a:stretch>
            <a:fillRect/>
          </a:stretch>
        </p:blipFill>
        <p:spPr>
          <a:xfrm>
            <a:off x="929618" y="2603499"/>
            <a:ext cx="4975882" cy="3067837"/>
          </a:xfrm>
          <a:prstGeom prst="rect">
            <a:avLst/>
          </a:prstGeom>
        </p:spPr>
      </p:pic>
      <p:pic>
        <p:nvPicPr>
          <p:cNvPr id="3" name="图片 2">
            <a:extLst>
              <a:ext uri="{FF2B5EF4-FFF2-40B4-BE49-F238E27FC236}">
                <a16:creationId xmlns:a16="http://schemas.microsoft.com/office/drawing/2014/main" id="{EFB6B76D-1FF8-D34A-AB6E-AA1694FFE746}"/>
              </a:ext>
            </a:extLst>
          </p:cNvPr>
          <p:cNvPicPr>
            <a:picLocks noChangeAspect="1"/>
          </p:cNvPicPr>
          <p:nvPr/>
        </p:nvPicPr>
        <p:blipFill>
          <a:blip r:embed="rId4"/>
          <a:stretch>
            <a:fillRect/>
          </a:stretch>
        </p:blipFill>
        <p:spPr>
          <a:xfrm>
            <a:off x="6737131" y="0"/>
            <a:ext cx="4197569" cy="6858000"/>
          </a:xfrm>
          <a:prstGeom prst="rect">
            <a:avLst/>
          </a:prstGeom>
        </p:spPr>
      </p:pic>
    </p:spTree>
    <p:extLst>
      <p:ext uri="{BB962C8B-B14F-4D97-AF65-F5344CB8AC3E}">
        <p14:creationId xmlns:p14="http://schemas.microsoft.com/office/powerpoint/2010/main" val="1282328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A17</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0673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）定义一个元素类型为</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，元素个数不受限制的集合类</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IntSet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，该类型具有下面的接口：</a:t>
            </a:r>
          </a:p>
        </p:txBody>
      </p:sp>
      <p:pic>
        <p:nvPicPr>
          <p:cNvPr id="5" name="图片 4">
            <a:extLst>
              <a:ext uri="{FF2B5EF4-FFF2-40B4-BE49-F238E27FC236}">
                <a16:creationId xmlns:a16="http://schemas.microsoft.com/office/drawing/2014/main" id="{AFCDDA10-3676-C54C-A078-277F41C3F04E}"/>
              </a:ext>
            </a:extLst>
          </p:cNvPr>
          <p:cNvPicPr>
            <a:picLocks noChangeAspect="1"/>
          </p:cNvPicPr>
          <p:nvPr/>
        </p:nvPicPr>
        <p:blipFill>
          <a:blip r:embed="rId3"/>
          <a:stretch>
            <a:fillRect/>
          </a:stretch>
        </p:blipFill>
        <p:spPr>
          <a:xfrm>
            <a:off x="929618" y="2603499"/>
            <a:ext cx="4975882" cy="3067837"/>
          </a:xfrm>
          <a:prstGeom prst="rect">
            <a:avLst/>
          </a:prstGeom>
        </p:spPr>
      </p:pic>
      <p:pic>
        <p:nvPicPr>
          <p:cNvPr id="4" name="图片 3">
            <a:extLst>
              <a:ext uri="{FF2B5EF4-FFF2-40B4-BE49-F238E27FC236}">
                <a16:creationId xmlns:a16="http://schemas.microsoft.com/office/drawing/2014/main" id="{6E188F02-DE24-854F-B580-8CE8B28753CA}"/>
              </a:ext>
            </a:extLst>
          </p:cNvPr>
          <p:cNvPicPr>
            <a:picLocks noChangeAspect="1"/>
          </p:cNvPicPr>
          <p:nvPr/>
        </p:nvPicPr>
        <p:blipFill>
          <a:blip r:embed="rId4"/>
          <a:stretch>
            <a:fillRect/>
          </a:stretch>
        </p:blipFill>
        <p:spPr>
          <a:xfrm>
            <a:off x="6659787" y="0"/>
            <a:ext cx="5146226" cy="6858000"/>
          </a:xfrm>
          <a:prstGeom prst="rect">
            <a:avLst/>
          </a:prstGeom>
        </p:spPr>
      </p:pic>
    </p:spTree>
    <p:extLst>
      <p:ext uri="{BB962C8B-B14F-4D97-AF65-F5344CB8AC3E}">
        <p14:creationId xmlns:p14="http://schemas.microsoft.com/office/powerpoint/2010/main" val="3541944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A17</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0673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）定义一个元素类型为</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，元素个数不受限制的集合类</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IntSet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，该类型具有下面的接口：</a:t>
            </a:r>
          </a:p>
        </p:txBody>
      </p:sp>
      <p:pic>
        <p:nvPicPr>
          <p:cNvPr id="5" name="图片 4">
            <a:extLst>
              <a:ext uri="{FF2B5EF4-FFF2-40B4-BE49-F238E27FC236}">
                <a16:creationId xmlns:a16="http://schemas.microsoft.com/office/drawing/2014/main" id="{AFCDDA10-3676-C54C-A078-277F41C3F04E}"/>
              </a:ext>
            </a:extLst>
          </p:cNvPr>
          <p:cNvPicPr>
            <a:picLocks noChangeAspect="1"/>
          </p:cNvPicPr>
          <p:nvPr/>
        </p:nvPicPr>
        <p:blipFill>
          <a:blip r:embed="rId3"/>
          <a:stretch>
            <a:fillRect/>
          </a:stretch>
        </p:blipFill>
        <p:spPr>
          <a:xfrm>
            <a:off x="929618" y="2603499"/>
            <a:ext cx="4975882" cy="3067837"/>
          </a:xfrm>
          <a:prstGeom prst="rect">
            <a:avLst/>
          </a:prstGeom>
        </p:spPr>
      </p:pic>
      <p:pic>
        <p:nvPicPr>
          <p:cNvPr id="6" name="图片 5">
            <a:extLst>
              <a:ext uri="{FF2B5EF4-FFF2-40B4-BE49-F238E27FC236}">
                <a16:creationId xmlns:a16="http://schemas.microsoft.com/office/drawing/2014/main" id="{1CE64623-F606-7643-8390-CD15DF64A686}"/>
              </a:ext>
            </a:extLst>
          </p:cNvPr>
          <p:cNvPicPr>
            <a:picLocks noChangeAspect="1"/>
          </p:cNvPicPr>
          <p:nvPr/>
        </p:nvPicPr>
        <p:blipFill>
          <a:blip r:embed="rId4"/>
          <a:stretch>
            <a:fillRect/>
          </a:stretch>
        </p:blipFill>
        <p:spPr>
          <a:xfrm>
            <a:off x="6661150" y="812800"/>
            <a:ext cx="4457700" cy="5435600"/>
          </a:xfrm>
          <a:prstGeom prst="rect">
            <a:avLst/>
          </a:prstGeom>
        </p:spPr>
      </p:pic>
    </p:spTree>
    <p:extLst>
      <p:ext uri="{BB962C8B-B14F-4D97-AF65-F5344CB8AC3E}">
        <p14:creationId xmlns:p14="http://schemas.microsoft.com/office/powerpoint/2010/main" val="238978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A17</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0673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）定义一个元素类型为</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，元素个数不受限制的集合类</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IntSet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，该类型具有下面的接口：</a:t>
            </a:r>
          </a:p>
        </p:txBody>
      </p:sp>
      <p:pic>
        <p:nvPicPr>
          <p:cNvPr id="5" name="图片 4">
            <a:extLst>
              <a:ext uri="{FF2B5EF4-FFF2-40B4-BE49-F238E27FC236}">
                <a16:creationId xmlns:a16="http://schemas.microsoft.com/office/drawing/2014/main" id="{AFCDDA10-3676-C54C-A078-277F41C3F04E}"/>
              </a:ext>
            </a:extLst>
          </p:cNvPr>
          <p:cNvPicPr>
            <a:picLocks noChangeAspect="1"/>
          </p:cNvPicPr>
          <p:nvPr/>
        </p:nvPicPr>
        <p:blipFill>
          <a:blip r:embed="rId3"/>
          <a:stretch>
            <a:fillRect/>
          </a:stretch>
        </p:blipFill>
        <p:spPr>
          <a:xfrm>
            <a:off x="929618" y="2603499"/>
            <a:ext cx="4975882" cy="3067837"/>
          </a:xfrm>
          <a:prstGeom prst="rect">
            <a:avLst/>
          </a:prstGeom>
        </p:spPr>
      </p:pic>
      <p:pic>
        <p:nvPicPr>
          <p:cNvPr id="3" name="图片 2">
            <a:extLst>
              <a:ext uri="{FF2B5EF4-FFF2-40B4-BE49-F238E27FC236}">
                <a16:creationId xmlns:a16="http://schemas.microsoft.com/office/drawing/2014/main" id="{79EE84B5-A8B9-3547-B957-A25AA78F8CEC}"/>
              </a:ext>
            </a:extLst>
          </p:cNvPr>
          <p:cNvPicPr>
            <a:picLocks noChangeAspect="1"/>
          </p:cNvPicPr>
          <p:nvPr/>
        </p:nvPicPr>
        <p:blipFill>
          <a:blip r:embed="rId4"/>
          <a:stretch>
            <a:fillRect/>
          </a:stretch>
        </p:blipFill>
        <p:spPr>
          <a:xfrm>
            <a:off x="6644618" y="781050"/>
            <a:ext cx="4800600" cy="5295900"/>
          </a:xfrm>
          <a:prstGeom prst="rect">
            <a:avLst/>
          </a:prstGeom>
        </p:spPr>
      </p:pic>
    </p:spTree>
    <p:extLst>
      <p:ext uri="{BB962C8B-B14F-4D97-AF65-F5344CB8AC3E}">
        <p14:creationId xmlns:p14="http://schemas.microsoft.com/office/powerpoint/2010/main" val="4139980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A18</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0673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18</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）定义一个由</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型元素所构成的线性表类</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LinearList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，它有下面的成员函数：</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insert(int x, int pos);</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remove(int&amp; x, int pos);</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element(int pos) const;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search(int x) const;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length() const;</a:t>
            </a:r>
          </a:p>
        </p:txBody>
      </p:sp>
      <p:pic>
        <p:nvPicPr>
          <p:cNvPr id="6" name="图片 5">
            <a:extLst>
              <a:ext uri="{FF2B5EF4-FFF2-40B4-BE49-F238E27FC236}">
                <a16:creationId xmlns:a16="http://schemas.microsoft.com/office/drawing/2014/main" id="{F8048EEA-2295-0948-BF8D-DFAAEA75EECB}"/>
              </a:ext>
            </a:extLst>
          </p:cNvPr>
          <p:cNvPicPr>
            <a:picLocks noChangeAspect="1"/>
          </p:cNvPicPr>
          <p:nvPr/>
        </p:nvPicPr>
        <p:blipFill>
          <a:blip r:embed="rId3"/>
          <a:stretch>
            <a:fillRect/>
          </a:stretch>
        </p:blipFill>
        <p:spPr>
          <a:xfrm>
            <a:off x="6432550" y="241300"/>
            <a:ext cx="3797300" cy="6375400"/>
          </a:xfrm>
          <a:prstGeom prst="rect">
            <a:avLst/>
          </a:prstGeom>
        </p:spPr>
      </p:pic>
    </p:spTree>
    <p:extLst>
      <p:ext uri="{BB962C8B-B14F-4D97-AF65-F5344CB8AC3E}">
        <p14:creationId xmlns:p14="http://schemas.microsoft.com/office/powerpoint/2010/main" val="1977362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A18</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0673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18</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）定义一个由</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型元素所构成的线性表类</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LinearList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，它有下面的成员函数：</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insert(int x, int pos);</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remove(int&amp; x, int pos);</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element(int pos) const;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search(int x) const;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length() const;</a:t>
            </a:r>
          </a:p>
        </p:txBody>
      </p:sp>
      <p:pic>
        <p:nvPicPr>
          <p:cNvPr id="3" name="图片 2">
            <a:extLst>
              <a:ext uri="{FF2B5EF4-FFF2-40B4-BE49-F238E27FC236}">
                <a16:creationId xmlns:a16="http://schemas.microsoft.com/office/drawing/2014/main" id="{68CD7173-9919-A845-8CE3-BC3C2AD68080}"/>
              </a:ext>
            </a:extLst>
          </p:cNvPr>
          <p:cNvPicPr>
            <a:picLocks noChangeAspect="1"/>
          </p:cNvPicPr>
          <p:nvPr/>
        </p:nvPicPr>
        <p:blipFill>
          <a:blip r:embed="rId3"/>
          <a:stretch>
            <a:fillRect/>
          </a:stretch>
        </p:blipFill>
        <p:spPr>
          <a:xfrm>
            <a:off x="6286502" y="0"/>
            <a:ext cx="3816626" cy="6858000"/>
          </a:xfrm>
          <a:prstGeom prst="rect">
            <a:avLst/>
          </a:prstGeom>
        </p:spPr>
      </p:pic>
    </p:spTree>
    <p:extLst>
      <p:ext uri="{BB962C8B-B14F-4D97-AF65-F5344CB8AC3E}">
        <p14:creationId xmlns:p14="http://schemas.microsoft.com/office/powerpoint/2010/main" val="3161639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A18</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0673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18</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）定义一个由</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型元素所构成的线性表类</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LinearList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，它有下面的成员函数：</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insert(int x, int pos);</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bool remove(int&amp; x, int pos);</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element(int pos) const;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search(int x) const;</a:t>
            </a:r>
          </a:p>
          <a:p>
            <a:pPr marL="457200" lvl="1" indent="0">
              <a:lnSpc>
                <a:spcPct val="150000"/>
              </a:lnSpc>
              <a:buNone/>
            </a:pPr>
            <a:r>
              <a:rPr kumimoji="1" lang="en-US" altLang="zh-CN" sz="1400" dirty="0">
                <a:latin typeface="KaiTi" panose="02010609060101010101" pitchFamily="49" charset="-122"/>
                <a:ea typeface="KaiTi" panose="02010609060101010101" pitchFamily="49" charset="-122"/>
                <a:cs typeface="Times New Roman" panose="02020603050405020304" pitchFamily="18" charset="0"/>
              </a:rPr>
              <a:t>int length() const;</a:t>
            </a:r>
          </a:p>
        </p:txBody>
      </p:sp>
      <p:pic>
        <p:nvPicPr>
          <p:cNvPr id="4" name="图片 3">
            <a:extLst>
              <a:ext uri="{FF2B5EF4-FFF2-40B4-BE49-F238E27FC236}">
                <a16:creationId xmlns:a16="http://schemas.microsoft.com/office/drawing/2014/main" id="{2AD88529-47DD-EC46-9538-1D4037F8AF4A}"/>
              </a:ext>
            </a:extLst>
          </p:cNvPr>
          <p:cNvPicPr>
            <a:picLocks noChangeAspect="1"/>
          </p:cNvPicPr>
          <p:nvPr/>
        </p:nvPicPr>
        <p:blipFill>
          <a:blip r:embed="rId3"/>
          <a:stretch>
            <a:fillRect/>
          </a:stretch>
        </p:blipFill>
        <p:spPr>
          <a:xfrm>
            <a:off x="6197600" y="0"/>
            <a:ext cx="5803834" cy="6858000"/>
          </a:xfrm>
          <a:prstGeom prst="rect">
            <a:avLst/>
          </a:prstGeom>
        </p:spPr>
      </p:pic>
    </p:spTree>
    <p:extLst>
      <p:ext uri="{BB962C8B-B14F-4D97-AF65-F5344CB8AC3E}">
        <p14:creationId xmlns:p14="http://schemas.microsoft.com/office/powerpoint/2010/main" val="3712316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B1</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0673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）编程题，设计一个算法，通过遍历一趟，将链表中所有结点的链接方向逆转，仍利用原表的存储空间。</a:t>
            </a:r>
          </a:p>
        </p:txBody>
      </p:sp>
      <p:pic>
        <p:nvPicPr>
          <p:cNvPr id="3" name="图片 2">
            <a:extLst>
              <a:ext uri="{FF2B5EF4-FFF2-40B4-BE49-F238E27FC236}">
                <a16:creationId xmlns:a16="http://schemas.microsoft.com/office/drawing/2014/main" id="{5C5BC741-8261-C247-859C-1B8A615CD325}"/>
              </a:ext>
            </a:extLst>
          </p:cNvPr>
          <p:cNvPicPr>
            <a:picLocks noChangeAspect="1"/>
          </p:cNvPicPr>
          <p:nvPr/>
        </p:nvPicPr>
        <p:blipFill>
          <a:blip r:embed="rId3"/>
          <a:stretch>
            <a:fillRect/>
          </a:stretch>
        </p:blipFill>
        <p:spPr>
          <a:xfrm>
            <a:off x="6286502" y="1428750"/>
            <a:ext cx="2921000" cy="4559300"/>
          </a:xfrm>
          <a:prstGeom prst="rect">
            <a:avLst/>
          </a:prstGeom>
        </p:spPr>
      </p:pic>
    </p:spTree>
    <p:extLst>
      <p:ext uri="{BB962C8B-B14F-4D97-AF65-F5344CB8AC3E}">
        <p14:creationId xmlns:p14="http://schemas.microsoft.com/office/powerpoint/2010/main" val="3079358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B2</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067300"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）编程题，请自己百度学习“队列”这种数据结构，然后用链表实现队列类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Queue</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。请在类中定义它的三种操作：初始化操作，出队列，入队列操作。</a:t>
            </a:r>
          </a:p>
        </p:txBody>
      </p:sp>
      <p:pic>
        <p:nvPicPr>
          <p:cNvPr id="4" name="图片 3">
            <a:extLst>
              <a:ext uri="{FF2B5EF4-FFF2-40B4-BE49-F238E27FC236}">
                <a16:creationId xmlns:a16="http://schemas.microsoft.com/office/drawing/2014/main" id="{256C9CA5-C0E4-B54D-BA10-20E9F28B4127}"/>
              </a:ext>
            </a:extLst>
          </p:cNvPr>
          <p:cNvPicPr>
            <a:picLocks noChangeAspect="1"/>
          </p:cNvPicPr>
          <p:nvPr/>
        </p:nvPicPr>
        <p:blipFill>
          <a:blip r:embed="rId3"/>
          <a:stretch>
            <a:fillRect/>
          </a:stretch>
        </p:blipFill>
        <p:spPr>
          <a:xfrm>
            <a:off x="6197602" y="463550"/>
            <a:ext cx="4470400" cy="5930900"/>
          </a:xfrm>
          <a:prstGeom prst="rect">
            <a:avLst/>
          </a:prstGeom>
        </p:spPr>
      </p:pic>
    </p:spTree>
    <p:extLst>
      <p:ext uri="{BB962C8B-B14F-4D97-AF65-F5344CB8AC3E}">
        <p14:creationId xmlns:p14="http://schemas.microsoft.com/office/powerpoint/2010/main" val="2802800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习题五：</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B2</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4044951" cy="5344326"/>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）编程题，请自己百度学习“队列”这种数据结构，然后用链表实现队列类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Queue</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。请在类中定义它的三种操作：初始化操作，出队列，入队列操作。</a:t>
            </a:r>
          </a:p>
        </p:txBody>
      </p:sp>
      <p:pic>
        <p:nvPicPr>
          <p:cNvPr id="5" name="图片 4">
            <a:extLst>
              <a:ext uri="{FF2B5EF4-FFF2-40B4-BE49-F238E27FC236}">
                <a16:creationId xmlns:a16="http://schemas.microsoft.com/office/drawing/2014/main" id="{716F8AAB-453B-B34A-94FE-EE5D84C69DF1}"/>
              </a:ext>
            </a:extLst>
          </p:cNvPr>
          <p:cNvPicPr>
            <a:picLocks noChangeAspect="1"/>
          </p:cNvPicPr>
          <p:nvPr/>
        </p:nvPicPr>
        <p:blipFill>
          <a:blip r:embed="rId3"/>
          <a:stretch>
            <a:fillRect/>
          </a:stretch>
        </p:blipFill>
        <p:spPr>
          <a:xfrm>
            <a:off x="5073650" y="1027906"/>
            <a:ext cx="2984500" cy="5029200"/>
          </a:xfrm>
          <a:prstGeom prst="rect">
            <a:avLst/>
          </a:prstGeom>
        </p:spPr>
      </p:pic>
      <p:pic>
        <p:nvPicPr>
          <p:cNvPr id="6" name="图片 5">
            <a:extLst>
              <a:ext uri="{FF2B5EF4-FFF2-40B4-BE49-F238E27FC236}">
                <a16:creationId xmlns:a16="http://schemas.microsoft.com/office/drawing/2014/main" id="{D1B0E976-3F7C-D844-9497-E2DA538C0655}"/>
              </a:ext>
            </a:extLst>
          </p:cNvPr>
          <p:cNvPicPr>
            <a:picLocks noChangeAspect="1"/>
          </p:cNvPicPr>
          <p:nvPr/>
        </p:nvPicPr>
        <p:blipFill>
          <a:blip r:embed="rId4"/>
          <a:stretch>
            <a:fillRect/>
          </a:stretch>
        </p:blipFill>
        <p:spPr>
          <a:xfrm>
            <a:off x="8248649" y="1339850"/>
            <a:ext cx="3606800" cy="4178300"/>
          </a:xfrm>
          <a:prstGeom prst="rect">
            <a:avLst/>
          </a:prstGeom>
        </p:spPr>
      </p:pic>
    </p:spTree>
    <p:extLst>
      <p:ext uri="{BB962C8B-B14F-4D97-AF65-F5344CB8AC3E}">
        <p14:creationId xmlns:p14="http://schemas.microsoft.com/office/powerpoint/2010/main" val="1757089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A21</a:t>
            </a:r>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A22</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21</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）为什么要对操作符进行重载？操作符重载会带来什么问题？</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操作符重载可以按通常习惯对某个类的对象进行操作，提高语言的灵活性和可扩充性，使得</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C++</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操作符除了能对基本数据类型和构造数据类型的数据进行操作外，也能用它们来对类的对象进行操作。操作符重载可能导致运算符的原本定义难以使用，或让人难以分辨运算符的真实含义。 </a:t>
            </a:r>
          </a:p>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22</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）操作符重载有哪两种形式？这两种形式有什么区别？</a:t>
            </a:r>
          </a:p>
          <a:p>
            <a:pPr marL="0" indent="0">
              <a:lnSpc>
                <a:spcPct val="150000"/>
              </a:lnSpc>
              <a:buNone/>
            </a:pP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    一种是作为成员函数重载操作符，一种是全局函数重载。当操作符作为类的非静态成员函数来重载时，双目操作符重载只需提供一个参数，单目不需提供参数且操作数必须是类对象 ；当作为全局函数重载时，如果函数中需要访问参数类的非</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public</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成员，则要把该全局的操作符重载函数说明成参数类的友元。一般来讲，单目运算符最好重载为成员函数，双目运算符最好重载为友元函数。</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＞以及所有的类型转换运算符只能作为成员函数重载。</a:t>
            </a:r>
          </a:p>
        </p:txBody>
      </p:sp>
    </p:spTree>
    <p:extLst>
      <p:ext uri="{BB962C8B-B14F-4D97-AF65-F5344CB8AC3E}">
        <p14:creationId xmlns:p14="http://schemas.microsoft.com/office/powerpoint/2010/main" val="23609926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A19</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105156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19</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，使得在程序中只能创建一个该类的对象，当试图创建该类的第二个对象时，返回第一个对象的指针。</a:t>
            </a:r>
          </a:p>
        </p:txBody>
      </p:sp>
      <p:pic>
        <p:nvPicPr>
          <p:cNvPr id="3" name="图片 2">
            <a:extLst>
              <a:ext uri="{FF2B5EF4-FFF2-40B4-BE49-F238E27FC236}">
                <a16:creationId xmlns:a16="http://schemas.microsoft.com/office/drawing/2014/main" id="{CFE66329-5AD3-E946-A64B-76316523CF46}"/>
              </a:ext>
            </a:extLst>
          </p:cNvPr>
          <p:cNvPicPr>
            <a:picLocks noChangeAspect="1"/>
          </p:cNvPicPr>
          <p:nvPr/>
        </p:nvPicPr>
        <p:blipFill>
          <a:blip r:embed="rId3"/>
          <a:stretch>
            <a:fillRect/>
          </a:stretch>
        </p:blipFill>
        <p:spPr>
          <a:xfrm>
            <a:off x="3867150" y="2635361"/>
            <a:ext cx="4457700" cy="3770822"/>
          </a:xfrm>
          <a:prstGeom prst="rect">
            <a:avLst/>
          </a:prstGeom>
        </p:spPr>
      </p:pic>
    </p:spTree>
    <p:extLst>
      <p:ext uri="{BB962C8B-B14F-4D97-AF65-F5344CB8AC3E}">
        <p14:creationId xmlns:p14="http://schemas.microsoft.com/office/powerpoint/2010/main" val="497383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A20</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48895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20</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）对于下面的类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，如何用</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C++</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的非面向对象语言成分来实现它？</a:t>
            </a:r>
          </a:p>
        </p:txBody>
      </p:sp>
      <p:pic>
        <p:nvPicPr>
          <p:cNvPr id="4" name="图片 3">
            <a:extLst>
              <a:ext uri="{FF2B5EF4-FFF2-40B4-BE49-F238E27FC236}">
                <a16:creationId xmlns:a16="http://schemas.microsoft.com/office/drawing/2014/main" id="{80DCC96E-7483-1841-AB26-86264A63BD08}"/>
              </a:ext>
            </a:extLst>
          </p:cNvPr>
          <p:cNvPicPr>
            <a:picLocks noChangeAspect="1"/>
          </p:cNvPicPr>
          <p:nvPr/>
        </p:nvPicPr>
        <p:blipFill>
          <a:blip r:embed="rId3"/>
          <a:stretch>
            <a:fillRect/>
          </a:stretch>
        </p:blipFill>
        <p:spPr>
          <a:xfrm>
            <a:off x="2784476" y="2639226"/>
            <a:ext cx="2667000" cy="2565400"/>
          </a:xfrm>
          <a:prstGeom prst="rect">
            <a:avLst/>
          </a:prstGeom>
        </p:spPr>
      </p:pic>
      <p:pic>
        <p:nvPicPr>
          <p:cNvPr id="5" name="图片 4">
            <a:extLst>
              <a:ext uri="{FF2B5EF4-FFF2-40B4-BE49-F238E27FC236}">
                <a16:creationId xmlns:a16="http://schemas.microsoft.com/office/drawing/2014/main" id="{1DB2389A-DE70-244E-8A26-46177B44C8F2}"/>
              </a:ext>
            </a:extLst>
          </p:cNvPr>
          <p:cNvPicPr>
            <a:picLocks noChangeAspect="1"/>
          </p:cNvPicPr>
          <p:nvPr/>
        </p:nvPicPr>
        <p:blipFill>
          <a:blip r:embed="rId4"/>
          <a:stretch>
            <a:fillRect/>
          </a:stretch>
        </p:blipFill>
        <p:spPr>
          <a:xfrm>
            <a:off x="6702425" y="626276"/>
            <a:ext cx="2273300" cy="6159500"/>
          </a:xfrm>
          <a:prstGeom prst="rect">
            <a:avLst/>
          </a:prstGeom>
        </p:spPr>
      </p:pic>
      <p:sp>
        <p:nvSpPr>
          <p:cNvPr id="6" name="右箭头 5">
            <a:extLst>
              <a:ext uri="{FF2B5EF4-FFF2-40B4-BE49-F238E27FC236}">
                <a16:creationId xmlns:a16="http://schemas.microsoft.com/office/drawing/2014/main" id="{CF4AE788-3320-8645-8CFD-9CF3BFE04F39}"/>
              </a:ext>
            </a:extLst>
          </p:cNvPr>
          <p:cNvSpPr/>
          <p:nvPr/>
        </p:nvSpPr>
        <p:spPr>
          <a:xfrm>
            <a:off x="5937250" y="3706026"/>
            <a:ext cx="317500" cy="431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220118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A26</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467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26</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）用操作符重载重新实现第</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题集合类的一些操作：</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&lt;= </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（包含于）、</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（相等）、</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（不等）、</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（并集）、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&amp;</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（交集）、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（差集）、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（增加元素）、</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（删除元素）等。</a:t>
            </a:r>
          </a:p>
        </p:txBody>
      </p:sp>
      <p:pic>
        <p:nvPicPr>
          <p:cNvPr id="5" name="图片 4">
            <a:extLst>
              <a:ext uri="{FF2B5EF4-FFF2-40B4-BE49-F238E27FC236}">
                <a16:creationId xmlns:a16="http://schemas.microsoft.com/office/drawing/2014/main" id="{BAE7E5F7-9FA8-A144-B16D-DA1FBA6A4924}"/>
              </a:ext>
            </a:extLst>
          </p:cNvPr>
          <p:cNvPicPr>
            <a:picLocks noChangeAspect="1"/>
          </p:cNvPicPr>
          <p:nvPr/>
        </p:nvPicPr>
        <p:blipFill>
          <a:blip r:embed="rId3"/>
          <a:stretch>
            <a:fillRect/>
          </a:stretch>
        </p:blipFill>
        <p:spPr>
          <a:xfrm>
            <a:off x="6686550" y="485775"/>
            <a:ext cx="4165600" cy="6007100"/>
          </a:xfrm>
          <a:prstGeom prst="rect">
            <a:avLst/>
          </a:prstGeom>
        </p:spPr>
      </p:pic>
    </p:spTree>
    <p:extLst>
      <p:ext uri="{BB962C8B-B14F-4D97-AF65-F5344CB8AC3E}">
        <p14:creationId xmlns:p14="http://schemas.microsoft.com/office/powerpoint/2010/main" val="92074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A26</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467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26</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）用操作符重载重新实现第</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题集合类的一些操作：</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&lt;= </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（包含于）、</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（相等）、</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（不等）、</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（并集）、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&amp;</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（交集）、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（差集）、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（增加元素）、</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（删除元素）等。</a:t>
            </a:r>
          </a:p>
        </p:txBody>
      </p:sp>
      <p:pic>
        <p:nvPicPr>
          <p:cNvPr id="3" name="图片 2">
            <a:extLst>
              <a:ext uri="{FF2B5EF4-FFF2-40B4-BE49-F238E27FC236}">
                <a16:creationId xmlns:a16="http://schemas.microsoft.com/office/drawing/2014/main" id="{6810990B-BAC9-A344-B8B3-D8A66BC59524}"/>
              </a:ext>
            </a:extLst>
          </p:cNvPr>
          <p:cNvPicPr>
            <a:picLocks noChangeAspect="1"/>
          </p:cNvPicPr>
          <p:nvPr/>
        </p:nvPicPr>
        <p:blipFill>
          <a:blip r:embed="rId3"/>
          <a:stretch>
            <a:fillRect/>
          </a:stretch>
        </p:blipFill>
        <p:spPr>
          <a:xfrm>
            <a:off x="6540500" y="431800"/>
            <a:ext cx="4610100" cy="5994400"/>
          </a:xfrm>
          <a:prstGeom prst="rect">
            <a:avLst/>
          </a:prstGeom>
        </p:spPr>
      </p:pic>
    </p:spTree>
    <p:extLst>
      <p:ext uri="{BB962C8B-B14F-4D97-AF65-F5344CB8AC3E}">
        <p14:creationId xmlns:p14="http://schemas.microsoft.com/office/powerpoint/2010/main" val="15566486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A26</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467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26</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）用操作符重载重新实现第</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题集合类的一些操作：</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&lt;= </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（包含于）、</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（相等）、</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（不等）、</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（并集）、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&amp;</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（交集）、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（差集）、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（增加元素）、</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（删除元素）等。</a:t>
            </a:r>
          </a:p>
        </p:txBody>
      </p:sp>
      <p:pic>
        <p:nvPicPr>
          <p:cNvPr id="4" name="图片 3">
            <a:extLst>
              <a:ext uri="{FF2B5EF4-FFF2-40B4-BE49-F238E27FC236}">
                <a16:creationId xmlns:a16="http://schemas.microsoft.com/office/drawing/2014/main" id="{E52B7C79-384F-344D-81E4-3C370D2E8FF3}"/>
              </a:ext>
            </a:extLst>
          </p:cNvPr>
          <p:cNvPicPr>
            <a:picLocks noChangeAspect="1"/>
          </p:cNvPicPr>
          <p:nvPr/>
        </p:nvPicPr>
        <p:blipFill>
          <a:blip r:embed="rId3"/>
          <a:stretch>
            <a:fillRect/>
          </a:stretch>
        </p:blipFill>
        <p:spPr>
          <a:xfrm>
            <a:off x="6540500" y="908050"/>
            <a:ext cx="5207000" cy="4787900"/>
          </a:xfrm>
          <a:prstGeom prst="rect">
            <a:avLst/>
          </a:prstGeom>
        </p:spPr>
      </p:pic>
    </p:spTree>
    <p:extLst>
      <p:ext uri="{BB962C8B-B14F-4D97-AF65-F5344CB8AC3E}">
        <p14:creationId xmlns:p14="http://schemas.microsoft.com/office/powerpoint/2010/main" val="172122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A26</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467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26</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）用操作符重载重新实现第</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题集合类的一些操作：</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&lt;= </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（包含于）、</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（相等）、</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（不等）、</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（并集）、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&amp;</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（交集）、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（差集）、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（增加元素）、</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（删除元素）等。</a:t>
            </a:r>
          </a:p>
        </p:txBody>
      </p:sp>
      <p:pic>
        <p:nvPicPr>
          <p:cNvPr id="3" name="图片 2">
            <a:extLst>
              <a:ext uri="{FF2B5EF4-FFF2-40B4-BE49-F238E27FC236}">
                <a16:creationId xmlns:a16="http://schemas.microsoft.com/office/drawing/2014/main" id="{52E78DDD-1559-6D4E-9BED-2860AC11AC84}"/>
              </a:ext>
            </a:extLst>
          </p:cNvPr>
          <p:cNvPicPr>
            <a:picLocks noChangeAspect="1"/>
          </p:cNvPicPr>
          <p:nvPr/>
        </p:nvPicPr>
        <p:blipFill>
          <a:blip r:embed="rId3"/>
          <a:stretch>
            <a:fillRect/>
          </a:stretch>
        </p:blipFill>
        <p:spPr>
          <a:xfrm>
            <a:off x="6350000" y="0"/>
            <a:ext cx="5842000" cy="6858000"/>
          </a:xfrm>
          <a:prstGeom prst="rect">
            <a:avLst/>
          </a:prstGeom>
        </p:spPr>
      </p:pic>
    </p:spTree>
    <p:extLst>
      <p:ext uri="{BB962C8B-B14F-4D97-AF65-F5344CB8AC3E}">
        <p14:creationId xmlns:p14="http://schemas.microsoft.com/office/powerpoint/2010/main" val="29658563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A26</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467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26</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）用操作符重载重新实现第</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17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题集合类的一些操作：</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&lt;= </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（包含于）、</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（相等）、</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（不等）、</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（并集）、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&amp;</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（交集）、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（差集）、</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（增加元素）、</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（删除元素）等。</a:t>
            </a:r>
          </a:p>
        </p:txBody>
      </p:sp>
      <p:pic>
        <p:nvPicPr>
          <p:cNvPr id="4" name="图片 3">
            <a:extLst>
              <a:ext uri="{FF2B5EF4-FFF2-40B4-BE49-F238E27FC236}">
                <a16:creationId xmlns:a16="http://schemas.microsoft.com/office/drawing/2014/main" id="{F70FE9EB-C1CE-FD46-AA4C-7F5586F45338}"/>
              </a:ext>
            </a:extLst>
          </p:cNvPr>
          <p:cNvPicPr>
            <a:picLocks noChangeAspect="1"/>
          </p:cNvPicPr>
          <p:nvPr/>
        </p:nvPicPr>
        <p:blipFill>
          <a:blip r:embed="rId3"/>
          <a:stretch>
            <a:fillRect/>
          </a:stretch>
        </p:blipFill>
        <p:spPr>
          <a:xfrm>
            <a:off x="6297207" y="0"/>
            <a:ext cx="3674286" cy="6858000"/>
          </a:xfrm>
          <a:prstGeom prst="rect">
            <a:avLst/>
          </a:prstGeom>
        </p:spPr>
      </p:pic>
    </p:spTree>
    <p:extLst>
      <p:ext uri="{BB962C8B-B14F-4D97-AF65-F5344CB8AC3E}">
        <p14:creationId xmlns:p14="http://schemas.microsoft.com/office/powerpoint/2010/main" val="1848477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A27</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467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）定义一个带下标范围检查、数组整体赋值和比较功能的一维</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型数组类：</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IntArray</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a:t>
            </a:r>
          </a:p>
        </p:txBody>
      </p:sp>
      <p:pic>
        <p:nvPicPr>
          <p:cNvPr id="3" name="图片 2">
            <a:extLst>
              <a:ext uri="{FF2B5EF4-FFF2-40B4-BE49-F238E27FC236}">
                <a16:creationId xmlns:a16="http://schemas.microsoft.com/office/drawing/2014/main" id="{DF25259C-4F06-A14B-B7A2-DFF21F4E9335}"/>
              </a:ext>
            </a:extLst>
          </p:cNvPr>
          <p:cNvPicPr>
            <a:picLocks noChangeAspect="1"/>
          </p:cNvPicPr>
          <p:nvPr/>
        </p:nvPicPr>
        <p:blipFill>
          <a:blip r:embed="rId3"/>
          <a:stretch>
            <a:fillRect/>
          </a:stretch>
        </p:blipFill>
        <p:spPr>
          <a:xfrm>
            <a:off x="6210300" y="500683"/>
            <a:ext cx="4279900" cy="5905500"/>
          </a:xfrm>
          <a:prstGeom prst="rect">
            <a:avLst/>
          </a:prstGeom>
        </p:spPr>
      </p:pic>
    </p:spTree>
    <p:extLst>
      <p:ext uri="{BB962C8B-B14F-4D97-AF65-F5344CB8AC3E}">
        <p14:creationId xmlns:p14="http://schemas.microsoft.com/office/powerpoint/2010/main" val="2483531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A27</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467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）定义一个带下标范围检查、数组整体赋值和比较功能的一维</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型数组类：</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IntArray</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a:t>
            </a:r>
          </a:p>
        </p:txBody>
      </p:sp>
      <p:pic>
        <p:nvPicPr>
          <p:cNvPr id="4" name="图片 3">
            <a:extLst>
              <a:ext uri="{FF2B5EF4-FFF2-40B4-BE49-F238E27FC236}">
                <a16:creationId xmlns:a16="http://schemas.microsoft.com/office/drawing/2014/main" id="{2321822B-B3E1-3541-8370-C812B95CD32A}"/>
              </a:ext>
            </a:extLst>
          </p:cNvPr>
          <p:cNvPicPr>
            <a:picLocks noChangeAspect="1"/>
          </p:cNvPicPr>
          <p:nvPr/>
        </p:nvPicPr>
        <p:blipFill>
          <a:blip r:embed="rId3"/>
          <a:stretch>
            <a:fillRect/>
          </a:stretch>
        </p:blipFill>
        <p:spPr>
          <a:xfrm>
            <a:off x="6184900" y="793750"/>
            <a:ext cx="4991100" cy="5270500"/>
          </a:xfrm>
          <a:prstGeom prst="rect">
            <a:avLst/>
          </a:prstGeom>
        </p:spPr>
      </p:pic>
    </p:spTree>
    <p:extLst>
      <p:ext uri="{BB962C8B-B14F-4D97-AF65-F5344CB8AC3E}">
        <p14:creationId xmlns:p14="http://schemas.microsoft.com/office/powerpoint/2010/main" val="9463813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A27</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467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27</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）定义一个带下标范围检查、数组整体赋值和比较功能的一维</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int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型数组类：</a:t>
            </a:r>
            <a:r>
              <a:rPr kumimoji="1" lang="en-US" altLang="zh-CN" sz="1800" dirty="0" err="1">
                <a:latin typeface="KaiTi" panose="02010609060101010101" pitchFamily="49" charset="-122"/>
                <a:ea typeface="KaiTi" panose="02010609060101010101" pitchFamily="49" charset="-122"/>
                <a:cs typeface="Times New Roman" panose="02020603050405020304" pitchFamily="18" charset="0"/>
              </a:rPr>
              <a:t>IntArray</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a:t>
            </a:r>
          </a:p>
        </p:txBody>
      </p:sp>
      <p:pic>
        <p:nvPicPr>
          <p:cNvPr id="3" name="图片 2">
            <a:extLst>
              <a:ext uri="{FF2B5EF4-FFF2-40B4-BE49-F238E27FC236}">
                <a16:creationId xmlns:a16="http://schemas.microsoft.com/office/drawing/2014/main" id="{269D706A-50BE-674C-8E1E-6F491A97D54E}"/>
              </a:ext>
            </a:extLst>
          </p:cNvPr>
          <p:cNvPicPr>
            <a:picLocks noChangeAspect="1"/>
          </p:cNvPicPr>
          <p:nvPr/>
        </p:nvPicPr>
        <p:blipFill>
          <a:blip r:embed="rId3"/>
          <a:stretch>
            <a:fillRect/>
          </a:stretch>
        </p:blipFill>
        <p:spPr>
          <a:xfrm>
            <a:off x="6184900" y="1720850"/>
            <a:ext cx="4737100" cy="3416300"/>
          </a:xfrm>
          <a:prstGeom prst="rect">
            <a:avLst/>
          </a:prstGeom>
        </p:spPr>
      </p:pic>
    </p:spTree>
    <p:extLst>
      <p:ext uri="{BB962C8B-B14F-4D97-AF65-F5344CB8AC3E}">
        <p14:creationId xmlns:p14="http://schemas.microsoft.com/office/powerpoint/2010/main" val="3610038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3BC723-80D1-984E-8575-F053B7E60C4A}"/>
              </a:ext>
            </a:extLst>
          </p:cNvPr>
          <p:cNvSpPr>
            <a:spLocks noGrp="1"/>
          </p:cNvSpPr>
          <p:nvPr>
            <p:ph type="title"/>
          </p:nvPr>
        </p:nvSpPr>
        <p:spPr/>
        <p:txBody>
          <a:bodyPr>
            <a:normAutofit/>
          </a:bodyPr>
          <a:lstStyle/>
          <a:p>
            <a:r>
              <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rPr>
              <a:t>习题六：</a:t>
            </a:r>
            <a:r>
              <a:rPr kumimoji="1" lang="en-US" altLang="zh-CN" sz="2800" b="1" dirty="0">
                <a:latin typeface="Times New Roman" panose="02020603050405020304" pitchFamily="18" charset="0"/>
                <a:ea typeface="KaiTi" panose="02010609060101010101" pitchFamily="49" charset="-122"/>
                <a:cs typeface="Times New Roman" panose="02020603050405020304" pitchFamily="18" charset="0"/>
              </a:rPr>
              <a:t>A30</a:t>
            </a:r>
            <a:endParaRPr kumimoji="1" lang="zh-CN" altLang="en-US" sz="2800" b="1"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730815DC-B3EC-DB40-9BB6-0FD69D3F18E5}"/>
              </a:ext>
            </a:extLst>
          </p:cNvPr>
          <p:cNvSpPr>
            <a:spLocks noGrp="1"/>
          </p:cNvSpPr>
          <p:nvPr>
            <p:ph idx="1"/>
          </p:nvPr>
        </p:nvSpPr>
        <p:spPr>
          <a:xfrm>
            <a:off x="838200" y="1653374"/>
            <a:ext cx="5346700" cy="4752809"/>
          </a:xfrm>
        </p:spPr>
        <p:txBody>
          <a:bodyPr>
            <a:normAutofit/>
          </a:bodyPr>
          <a:lstStyle/>
          <a:p>
            <a:pPr marL="0" indent="0">
              <a:lnSpc>
                <a:spcPct val="150000"/>
              </a:lnSpc>
              <a:buNone/>
            </a:pP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30</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）定义一个数学上的“分数”类</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Fraction</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，用它能实现分数之间以及分数与</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double</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型之间的</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等基本运算，其中，分数与</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double</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型数据的计算结果为</a:t>
            </a:r>
            <a:r>
              <a:rPr kumimoji="1" lang="en-US" altLang="zh-CN" sz="1800" dirty="0">
                <a:latin typeface="KaiTi" panose="02010609060101010101" pitchFamily="49" charset="-122"/>
                <a:ea typeface="KaiTi" panose="02010609060101010101" pitchFamily="49" charset="-122"/>
                <a:cs typeface="Times New Roman" panose="02020603050405020304" pitchFamily="18" charset="0"/>
              </a:rPr>
              <a:t>double</a:t>
            </a:r>
            <a:r>
              <a:rPr kumimoji="1" lang="zh-CN" altLang="en-US" sz="1800" dirty="0">
                <a:latin typeface="KaiTi" panose="02010609060101010101" pitchFamily="49" charset="-122"/>
                <a:ea typeface="KaiTi" panose="02010609060101010101" pitchFamily="49" charset="-122"/>
                <a:cs typeface="Times New Roman" panose="02020603050405020304" pitchFamily="18" charset="0"/>
              </a:rPr>
              <a:t>型。</a:t>
            </a:r>
          </a:p>
        </p:txBody>
      </p:sp>
      <p:pic>
        <p:nvPicPr>
          <p:cNvPr id="5" name="图片 4">
            <a:extLst>
              <a:ext uri="{FF2B5EF4-FFF2-40B4-BE49-F238E27FC236}">
                <a16:creationId xmlns:a16="http://schemas.microsoft.com/office/drawing/2014/main" id="{CF44D421-9403-794E-A432-BD576890FBAE}"/>
              </a:ext>
            </a:extLst>
          </p:cNvPr>
          <p:cNvPicPr>
            <a:picLocks noChangeAspect="1"/>
          </p:cNvPicPr>
          <p:nvPr/>
        </p:nvPicPr>
        <p:blipFill>
          <a:blip r:embed="rId3"/>
          <a:stretch>
            <a:fillRect/>
          </a:stretch>
        </p:blipFill>
        <p:spPr>
          <a:xfrm>
            <a:off x="1352550" y="3429000"/>
            <a:ext cx="4445000" cy="3187700"/>
          </a:xfrm>
          <a:prstGeom prst="rect">
            <a:avLst/>
          </a:prstGeom>
        </p:spPr>
      </p:pic>
      <p:pic>
        <p:nvPicPr>
          <p:cNvPr id="6" name="图片 5">
            <a:extLst>
              <a:ext uri="{FF2B5EF4-FFF2-40B4-BE49-F238E27FC236}">
                <a16:creationId xmlns:a16="http://schemas.microsoft.com/office/drawing/2014/main" id="{81592406-716E-0841-A9A9-3785CD2874EE}"/>
              </a:ext>
            </a:extLst>
          </p:cNvPr>
          <p:cNvPicPr>
            <a:picLocks noChangeAspect="1"/>
          </p:cNvPicPr>
          <p:nvPr/>
        </p:nvPicPr>
        <p:blipFill>
          <a:blip r:embed="rId4"/>
          <a:stretch>
            <a:fillRect/>
          </a:stretch>
        </p:blipFill>
        <p:spPr>
          <a:xfrm>
            <a:off x="6350000" y="800100"/>
            <a:ext cx="5816600" cy="5816600"/>
          </a:xfrm>
          <a:prstGeom prst="rect">
            <a:avLst/>
          </a:prstGeom>
        </p:spPr>
      </p:pic>
    </p:spTree>
    <p:extLst>
      <p:ext uri="{BB962C8B-B14F-4D97-AF65-F5344CB8AC3E}">
        <p14:creationId xmlns:p14="http://schemas.microsoft.com/office/powerpoint/2010/main" val="372319346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1840</TotalTime>
  <Words>2693</Words>
  <Application>Microsoft Macintosh PowerPoint</Application>
  <PresentationFormat>宽屏</PresentationFormat>
  <Paragraphs>186</Paragraphs>
  <Slides>37</Slides>
  <Notes>36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37</vt:i4>
      </vt:variant>
    </vt:vector>
  </HeadingPairs>
  <TitlesOfParts>
    <vt:vector size="43" baseType="lpstr">
      <vt:lpstr>等线</vt:lpstr>
      <vt:lpstr>等线 Light</vt:lpstr>
      <vt:lpstr>KaiTi</vt:lpstr>
      <vt:lpstr>Arial</vt:lpstr>
      <vt:lpstr>Times New Roman</vt:lpstr>
      <vt:lpstr>Office 主题​​</vt:lpstr>
      <vt:lpstr>C++习题课(4-6)</vt:lpstr>
      <vt:lpstr>习题四：A25</vt:lpstr>
      <vt:lpstr>习题四：A26</vt:lpstr>
      <vt:lpstr>习题四：A1~A3</vt:lpstr>
      <vt:lpstr>习题四：A13</vt:lpstr>
      <vt:lpstr>习题四：A14</vt:lpstr>
      <vt:lpstr>习题四：A15</vt:lpstr>
      <vt:lpstr>习题四：A16</vt:lpstr>
      <vt:lpstr>习题四：A16</vt:lpstr>
      <vt:lpstr>习题四：A16</vt:lpstr>
      <vt:lpstr>习题四：B1</vt:lpstr>
      <vt:lpstr>习题五：A4~A6</vt:lpstr>
      <vt:lpstr>习题五：A7~A9</vt:lpstr>
      <vt:lpstr>习题五：A10~A12</vt:lpstr>
      <vt:lpstr>习题五：A17</vt:lpstr>
      <vt:lpstr>习题五：A17</vt:lpstr>
      <vt:lpstr>习题五：A17</vt:lpstr>
      <vt:lpstr>习题五：A17</vt:lpstr>
      <vt:lpstr>习题五：A17</vt:lpstr>
      <vt:lpstr>习题五：A18</vt:lpstr>
      <vt:lpstr>习题五：A18</vt:lpstr>
      <vt:lpstr>习题五：A18</vt:lpstr>
      <vt:lpstr>习题五：B1</vt:lpstr>
      <vt:lpstr>习题五：B2</vt:lpstr>
      <vt:lpstr>习题五：B2</vt:lpstr>
      <vt:lpstr>习题六：A21、A22</vt:lpstr>
      <vt:lpstr>习题六：A19</vt:lpstr>
      <vt:lpstr>习题六：A20</vt:lpstr>
      <vt:lpstr>习题六：A26</vt:lpstr>
      <vt:lpstr>习题六：A26</vt:lpstr>
      <vt:lpstr>习题六：A26</vt:lpstr>
      <vt:lpstr>习题六：A26</vt:lpstr>
      <vt:lpstr>习题六：A26</vt:lpstr>
      <vt:lpstr>习题六：A27</vt:lpstr>
      <vt:lpstr>习题六：A27</vt:lpstr>
      <vt:lpstr>习题六：A27</vt:lpstr>
      <vt:lpstr>习题六：A30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Microsoft Office User</cp:lastModifiedBy>
  <cp:revision>101</cp:revision>
  <dcterms:created xsi:type="dcterms:W3CDTF">2022-03-10T12:33:41Z</dcterms:created>
  <dcterms:modified xsi:type="dcterms:W3CDTF">2022-04-13T19:39:39Z</dcterms:modified>
</cp:coreProperties>
</file>